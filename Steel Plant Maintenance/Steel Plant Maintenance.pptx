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5" r:id="rId19"/>
    <p:sldId id="276" r:id="rId20"/>
    <p:sldId id="277" r:id="rId21"/>
    <p:sldId id="2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66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endParaRPr lang="en-US" dirty="0"/>
          </a:p>
        </p:txBody>
      </p:sp>
      <p:sp>
        <p:nvSpPr>
          <p:cNvPr id="3" name="Subtitle 2"/>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a:xfrm>
            <a:off x="576072" y="6356350"/>
            <a:ext cx="2743200" cy="365125"/>
          </a:xfrm>
        </p:spPr>
        <p:txBody>
          <a:bodyPr/>
          <a:lstStyle/>
          <a:p>
            <a:fld id="{02AC24A9-CCB6-4F8D-B8DB-C2F3692CFA5A}"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8869680" y="6356350"/>
            <a:ext cx="2743200" cy="365125"/>
          </a:xfrm>
        </p:spPr>
        <p:txBody>
          <a:bodyPr/>
          <a:lstStyle/>
          <a:p>
            <a:fld id="{B2DC25EE-239B-4C5F-AAD1-255A7D5F1EE2}" type="slidenum">
              <a:rPr lang="en-US" smtClean="0"/>
            </a:fld>
            <a:endParaRPr lang="en-US" dirty="0"/>
          </a:p>
        </p:txBody>
      </p:sp>
      <p:sp>
        <p:nvSpPr>
          <p:cNvPr id="8" name="Rectangle 7"/>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endParaRPr lang="en-US" dirty="0"/>
          </a:p>
        </p:txBody>
      </p:sp>
      <p:sp>
        <p:nvSpPr>
          <p:cNvPr id="3" name="Content Placeholder 2"/>
          <p:cNvSpPr>
            <a:spLocks noGrp="1"/>
          </p:cNvSpPr>
          <p:nvPr>
            <p:ph idx="1"/>
          </p:nvPr>
        </p:nvSpPr>
        <p:spPr>
          <a:xfrm>
            <a:off x="1115568" y="2478024"/>
            <a:ext cx="10168128" cy="3694176"/>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a:xfrm>
            <a:off x="1115568" y="6356350"/>
            <a:ext cx="2743200" cy="365125"/>
          </a:xfrm>
        </p:spPr>
        <p:txBody>
          <a:bodyPr/>
          <a:lstStyle/>
          <a:p>
            <a:fld id="{02AC24A9-CCB6-4F8D-B8DB-C2F3692CFA5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540496" y="6356350"/>
            <a:ext cx="2743200" cy="365125"/>
          </a:xfrm>
        </p:spPr>
        <p:txBody>
          <a:bodyPr/>
          <a:lstStyle/>
          <a:p>
            <a:fld id="{B2DC25EE-239B-4C5F-AAD1-255A7D5F1EE2}"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endParaRPr lang="en-US" dirty="0"/>
          </a:p>
        </p:txBody>
      </p:sp>
      <p:sp>
        <p:nvSpPr>
          <p:cNvPr id="3" name="Text Placeholder 2"/>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endParaRPr lang="en-US" dirty="0"/>
          </a:p>
        </p:txBody>
      </p:sp>
      <p:sp>
        <p:nvSpPr>
          <p:cNvPr id="3" name="Content Placeholder 2"/>
          <p:cNvSpPr>
            <a:spLocks noGrp="1"/>
          </p:cNvSpPr>
          <p:nvPr>
            <p:ph sz="half" idx="1"/>
          </p:nvPr>
        </p:nvSpPr>
        <p:spPr>
          <a:xfrm>
            <a:off x="1115568" y="2478024"/>
            <a:ext cx="4937760" cy="3694176"/>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345936" y="2478024"/>
            <a:ext cx="4937760" cy="3694176"/>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nvPr>
        </p:nvSpPr>
        <p:spPr>
          <a:xfrm>
            <a:off x="1115568" y="6356350"/>
            <a:ext cx="2743200" cy="365125"/>
          </a:xfrm>
        </p:spPr>
        <p:txBody>
          <a:bodyPr/>
          <a:lstStyle/>
          <a:p>
            <a:fld id="{02AC24A9-CCB6-4F8D-B8DB-C2F3692CFA5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540496" y="6356350"/>
            <a:ext cx="2743200" cy="365125"/>
          </a:xfrm>
        </p:spPr>
        <p:txBody>
          <a:bodyPr/>
          <a:lstStyle/>
          <a:p>
            <a:fld id="{B2DC25EE-239B-4C5F-AAD1-255A7D5F1EE2}"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endParaRPr lang="en-US" dirty="0"/>
          </a:p>
        </p:txBody>
      </p:sp>
      <p:sp>
        <p:nvSpPr>
          <p:cNvPr id="3" name="Text Placeholder 2"/>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4" name="Content Placeholder 3"/>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4"/>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6" name="Content Placeholder 5"/>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Date Placeholder 6"/>
          <p:cNvSpPr>
            <a:spLocks noGrp="1"/>
          </p:cNvSpPr>
          <p:nvPr>
            <p:ph type="dt" sz="half" idx="10"/>
          </p:nvPr>
        </p:nvSpPr>
        <p:spPr>
          <a:xfrm>
            <a:off x="1115568" y="6356350"/>
            <a:ext cx="2743200" cy="365125"/>
          </a:xfrm>
        </p:spPr>
        <p:txBody>
          <a:bodyPr/>
          <a:lstStyle/>
          <a:p>
            <a:fld id="{02AC24A9-CCB6-4F8D-B8DB-C2F3692CFA5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540496" y="6356350"/>
            <a:ext cx="2743200" cy="365125"/>
          </a:xfrm>
        </p:spPr>
        <p:txBody>
          <a:bodyPr/>
          <a:lstStyle/>
          <a:p>
            <a:fld id="{B2DC25EE-239B-4C5F-AAD1-255A7D5F1EE2}"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endParaRPr lang="en-US" dirty="0"/>
          </a:p>
        </p:txBody>
      </p:sp>
      <p:sp>
        <p:nvSpPr>
          <p:cNvPr id="3" name="Date Placeholder 2"/>
          <p:cNvSpPr>
            <a:spLocks noGrp="1"/>
          </p:cNvSpPr>
          <p:nvPr>
            <p:ph type="dt" sz="half" idx="10"/>
          </p:nvPr>
        </p:nvSpPr>
        <p:spPr/>
        <p:txBody>
          <a:bodyPr/>
          <a:lstStyle/>
          <a:p>
            <a:fld id="{02AC24A9-CCB6-4F8D-B8DB-C2F3692CFA5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C25EE-239B-4C5F-AAD1-255A7D5F1EE2}"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AC24A9-CCB6-4F8D-B8DB-C2F3692CFA5A}"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DC25EE-239B-4C5F-AAD1-255A7D5F1EE2}"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endParaRPr lang="en-US" dirty="0"/>
          </a:p>
        </p:txBody>
      </p:sp>
      <p:sp>
        <p:nvSpPr>
          <p:cNvPr id="3" name="Content Placeholder 2"/>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endParaRPr lang="en-US" dirty="0"/>
          </a:p>
        </p:txBody>
      </p:sp>
      <p:sp>
        <p:nvSpPr>
          <p:cNvPr id="5" name="Date Placeholder 4"/>
          <p:cNvSpPr>
            <a:spLocks noGrp="1"/>
          </p:cNvSpPr>
          <p:nvPr>
            <p:ph type="dt" sz="half" idx="10"/>
          </p:nvPr>
        </p:nvSpPr>
        <p:spPr>
          <a:xfrm>
            <a:off x="868680" y="6356350"/>
            <a:ext cx="2743200" cy="365125"/>
          </a:xfrm>
        </p:spPr>
        <p:txBody>
          <a:bodyPr/>
          <a:lstStyle/>
          <a:p>
            <a:fld id="{02AC24A9-CCB6-4F8D-B8DB-C2F3692CFA5A}"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endParaRPr lang="en-US" dirty="0"/>
          </a:p>
        </p:txBody>
      </p:sp>
      <p:sp>
        <p:nvSpPr>
          <p:cNvPr id="3" name="Picture Placeholder 2"/>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lang="en-US" dirty="0"/>
          </a:p>
        </p:txBody>
      </p:sp>
      <p:sp>
        <p:nvSpPr>
          <p:cNvPr id="4" name="Text Placeholder 3"/>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endParaRPr lang="en-US" dirty="0"/>
          </a:p>
        </p:txBody>
      </p:sp>
      <p:sp>
        <p:nvSpPr>
          <p:cNvPr id="5" name="Date Placeholder 4"/>
          <p:cNvSpPr>
            <a:spLocks noGrp="1"/>
          </p:cNvSpPr>
          <p:nvPr>
            <p:ph type="dt" sz="half" idx="10"/>
          </p:nvPr>
        </p:nvSpPr>
        <p:spPr>
          <a:xfrm>
            <a:off x="868680" y="6356350"/>
            <a:ext cx="2743200" cy="365125"/>
          </a:xfrm>
        </p:spPr>
        <p:txBody>
          <a:bodyPr/>
          <a:lstStyle/>
          <a:p>
            <a:fld id="{02AC24A9-CCB6-4F8D-B8DB-C2F3692CFA5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02AC24A9-CCB6-4F8D-B8DB-C2F3692CFA5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02AC24A9-CCB6-4F8D-B8DB-C2F3692CFA5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7" name="Picture 3"/>
          <p:cNvPicPr>
            <a:picLocks noChangeAspect="1"/>
          </p:cNvPicPr>
          <p:nvPr/>
        </p:nvPicPr>
        <p:blipFill rotWithShape="1">
          <a:blip r:embed="rId1"/>
          <a:srcRect t="14528" b="886"/>
          <a:stretch>
            <a:fillRect/>
          </a:stretch>
        </p:blipFill>
        <p:spPr>
          <a:xfrm>
            <a:off x="-3047" y="10"/>
            <a:ext cx="12191999" cy="6857990"/>
          </a:xfrm>
          <a:prstGeom prst="rect">
            <a:avLst/>
          </a:prstGeom>
        </p:spPr>
      </p:pic>
      <p:sp>
        <p:nvSpPr>
          <p:cNvPr id="52" name="Rectangle 51"/>
          <p:cNvSpPr>
            <a:spLocks noGrp="1" noRot="1" noChangeAspect="1" noMove="1" noResize="1" noEditPoints="1" noAdjustHandles="1" noChangeArrowheads="1" noChangeShapeType="1" noTextEdit="1"/>
          </p:cNvSpPr>
          <p:nvPr/>
        </p:nvSpPr>
        <p:spPr>
          <a:xfrm>
            <a:off x="0" y="2207602"/>
            <a:ext cx="12191999" cy="3162146"/>
          </a:xfrm>
          <a:prstGeom prst="rect">
            <a:avLst/>
          </a:prstGeom>
          <a:gradFill flip="none" rotWithShape="1">
            <a:gsLst>
              <a:gs pos="0">
                <a:schemeClr val="tx2">
                  <a:alpha val="0"/>
                </a:schemeClr>
              </a:gs>
              <a:gs pos="50000">
                <a:schemeClr val="tx2">
                  <a:alpha val="35000"/>
                </a:schemeClr>
              </a:gs>
              <a:gs pos="100000">
                <a:schemeClr val="tx2">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43466" y="643467"/>
            <a:ext cx="10905059" cy="3330353"/>
          </a:xfrm>
          <a:effectLst>
            <a:outerShdw blurRad="50800" dist="38100" dir="2700000" algn="tl" rotWithShape="0">
              <a:prstClr val="black">
                <a:alpha val="40000"/>
              </a:prstClr>
            </a:outerShdw>
          </a:effectLst>
        </p:spPr>
        <p:txBody>
          <a:bodyPr vert="horz" lIns="91440" tIns="45720" rIns="91440" bIns="45720" rtlCol="0">
            <a:normAutofit/>
          </a:bodyPr>
          <a:lstStyle/>
          <a:p>
            <a:pPr algn="ctr"/>
            <a:r>
              <a:rPr lang="en-US" sz="3600" b="1">
                <a:solidFill>
                  <a:schemeClr val="bg1"/>
                </a:solidFill>
              </a:rPr>
              <a:t>DATABASE DEVELOPMENT OF BOOSTER MAINENANCE</a:t>
            </a:r>
            <a:endParaRPr lang="en-US" sz="3600" b="1">
              <a:solidFill>
                <a:schemeClr val="bg1"/>
              </a:solidFill>
            </a:endParaRPr>
          </a:p>
        </p:txBody>
      </p:sp>
      <p:sp>
        <p:nvSpPr>
          <p:cNvPr id="3" name="Subtitle 2"/>
          <p:cNvSpPr>
            <a:spLocks noGrp="1"/>
          </p:cNvSpPr>
          <p:nvPr>
            <p:ph type="subTitle" idx="1"/>
          </p:nvPr>
        </p:nvSpPr>
        <p:spPr>
          <a:xfrm>
            <a:off x="643466" y="4133135"/>
            <a:ext cx="10902016" cy="1454510"/>
          </a:xfrm>
          <a:effectLst>
            <a:outerShdw blurRad="50800" dist="38100" dir="2700000" algn="tl" rotWithShape="0">
              <a:prstClr val="black">
                <a:alpha val="40000"/>
              </a:prstClr>
            </a:outerShdw>
          </a:effectLst>
        </p:spPr>
        <p:txBody>
          <a:bodyPr vert="horz" lIns="91440" tIns="45720" rIns="91440" bIns="45720" rtlCol="0">
            <a:normAutofit fontScale="92500" lnSpcReduction="20000"/>
          </a:bodyPr>
          <a:lstStyle/>
          <a:p>
            <a:pPr algn="ctr">
              <a:lnSpc>
                <a:spcPct val="100000"/>
              </a:lnSpc>
            </a:pPr>
            <a:r>
              <a:rPr lang="en-US" sz="3000" b="1" dirty="0">
                <a:solidFill>
                  <a:schemeClr val="bg1"/>
                </a:solidFill>
              </a:rPr>
              <a:t>STRIKE TEAM ALPHA </a:t>
            </a:r>
            <a:br>
              <a:rPr lang="en-US" sz="1400" b="1" dirty="0">
                <a:solidFill>
                  <a:schemeClr val="bg1"/>
                </a:solidFill>
              </a:rPr>
            </a:br>
            <a:br>
              <a:rPr lang="en-US" sz="1400" dirty="0">
                <a:solidFill>
                  <a:schemeClr val="bg1"/>
                </a:solidFill>
              </a:rPr>
            </a:br>
            <a:r>
              <a:rPr lang="en-US" sz="1800" b="1" dirty="0">
                <a:solidFill>
                  <a:schemeClr val="bg1"/>
                </a:solidFill>
              </a:rPr>
              <a:t>MADHUGIRI  YASH</a:t>
            </a:r>
            <a:br>
              <a:rPr lang="en-US" sz="1800" b="1" dirty="0">
                <a:solidFill>
                  <a:schemeClr val="bg1"/>
                </a:solidFill>
              </a:rPr>
            </a:br>
            <a:r>
              <a:rPr lang="en-US" sz="1800" b="1" dirty="0">
                <a:solidFill>
                  <a:schemeClr val="bg1"/>
                </a:solidFill>
              </a:rPr>
              <a:t>RAO  TUSHAR</a:t>
            </a:r>
            <a:br>
              <a:rPr lang="en-US" sz="1800" b="1" dirty="0">
                <a:solidFill>
                  <a:schemeClr val="bg1"/>
                </a:solidFill>
              </a:rPr>
            </a:br>
            <a:r>
              <a:rPr lang="en-US" sz="1800" b="1" dirty="0">
                <a:solidFill>
                  <a:schemeClr val="bg1"/>
                </a:solidFill>
              </a:rPr>
              <a:t>LI  YUKAI</a:t>
            </a:r>
            <a:br>
              <a:rPr lang="en-US" sz="1800" b="1" dirty="0">
                <a:solidFill>
                  <a:schemeClr val="bg1"/>
                </a:solidFill>
              </a:rPr>
            </a:br>
            <a:r>
              <a:rPr lang="en-US" sz="1800" b="1" dirty="0">
                <a:solidFill>
                  <a:schemeClr val="bg1"/>
                </a:solidFill>
              </a:rPr>
              <a:t>BHALEKAR  PIYUSH</a:t>
            </a:r>
            <a:endParaRPr lang="en-US" sz="1400" b="1" dirty="0">
              <a:solidFill>
                <a:schemeClr val="bg1"/>
              </a:solidFill>
            </a:endParaRPr>
          </a:p>
        </p:txBody>
      </p:sp>
      <p:cxnSp>
        <p:nvCxnSpPr>
          <p:cNvPr id="54" name="Straight Connector 53"/>
          <p:cNvCxnSpPr>
            <a:cxnSpLocks noGrp="1" noRot="1" noChangeAspect="1" noMove="1" noResize="1" noEditPoints="1" noAdjustHandles="1" noChangeArrowheads="1" noChangeShapeType="1"/>
          </p:cNvCxnSpPr>
          <p:nvPr/>
        </p:nvCxnSpPr>
        <p:spPr>
          <a:xfrm>
            <a:off x="3393881" y="4035362"/>
            <a:ext cx="5404237" cy="0"/>
          </a:xfrm>
          <a:prstGeom prst="line">
            <a:avLst/>
          </a:prstGeom>
          <a:ln>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34"/>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3" name="Rectangle 36"/>
          <p:cNvSpPr>
            <a:spLocks noGrp="1" noRot="1" noChangeAspect="1" noMove="1" noResize="1" noEditPoints="1" noAdjustHandles="1" noChangeArrowheads="1" noChangeShapeType="1" noTextEdit="1"/>
          </p:cNvSpPr>
          <p:nvPr/>
        </p:nvSpPr>
        <p:spPr>
          <a:xfrm>
            <a:off x="409575" y="633619"/>
            <a:ext cx="427938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41247" y="978619"/>
            <a:ext cx="3410712" cy="1106424"/>
          </a:xfrm>
        </p:spPr>
        <p:txBody>
          <a:bodyPr>
            <a:normAutofit/>
          </a:bodyPr>
          <a:lstStyle/>
          <a:p>
            <a:r>
              <a:rPr lang="en-IN" sz="2800"/>
              <a:t>Kiln Table DDL</a:t>
            </a:r>
            <a:endParaRPr lang="en-IN" sz="2800" dirty="0"/>
          </a:p>
        </p:txBody>
      </p:sp>
      <p:sp>
        <p:nvSpPr>
          <p:cNvPr id="44" name="Rectangle 38"/>
          <p:cNvSpPr>
            <a:spLocks noGrp="1" noRot="1" noChangeAspect="1" noMove="1" noResize="1" noEditPoints="1" noAdjustHandles="1" noChangeArrowheads="1" noChangeShapeType="1" noTextEdit="1"/>
          </p:cNvSpPr>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Rectangle 40"/>
          <p:cNvSpPr>
            <a:spLocks noGrp="1" noRot="1" noChangeAspect="1" noMove="1" noResize="1" noEditPoints="1" noAdjustHandles="1" noChangeArrowheads="1" noChangeShapeType="1" noTextEdit="1"/>
          </p:cNvSpPr>
          <p:nvPr/>
        </p:nvSpPr>
        <p:spPr>
          <a:xfrm>
            <a:off x="877459" y="2093976"/>
            <a:ext cx="3328416"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841248" y="2252870"/>
            <a:ext cx="3412219" cy="2046039"/>
          </a:xfrm>
        </p:spPr>
        <p:txBody>
          <a:bodyPr>
            <a:normAutofit/>
          </a:bodyPr>
          <a:lstStyle/>
          <a:p>
            <a:pPr marL="0" indent="0">
              <a:buNone/>
            </a:pPr>
            <a:r>
              <a:rPr lang="en-IN" sz="1700" dirty="0"/>
              <a:t>CREATE TABLE Kiln </a:t>
            </a:r>
            <a:endParaRPr lang="en-IN" sz="1700" dirty="0"/>
          </a:p>
          <a:p>
            <a:pPr marL="0" indent="0">
              <a:buNone/>
            </a:pPr>
            <a:r>
              <a:rPr lang="en-US" sz="1700" dirty="0"/>
              <a:t>( </a:t>
            </a:r>
            <a:r>
              <a:rPr lang="en-US" sz="1700" dirty="0" err="1"/>
              <a:t>KilnID</a:t>
            </a:r>
            <a:r>
              <a:rPr lang="en-US" sz="1700" dirty="0"/>
              <a:t> char(3) not null, </a:t>
            </a:r>
            <a:endParaRPr lang="en-US" sz="1700" dirty="0"/>
          </a:p>
          <a:p>
            <a:pPr marL="0" indent="0">
              <a:buNone/>
            </a:pPr>
            <a:r>
              <a:rPr lang="en-IN" sz="1700" dirty="0" err="1"/>
              <a:t>KilnName</a:t>
            </a:r>
            <a:r>
              <a:rPr lang="en-IN" sz="1700" dirty="0"/>
              <a:t> varchar(5), </a:t>
            </a:r>
            <a:endParaRPr lang="en-IN" sz="1700" dirty="0"/>
          </a:p>
          <a:p>
            <a:pPr marL="0" indent="0">
              <a:buNone/>
            </a:pPr>
            <a:r>
              <a:rPr lang="en-US" sz="1700" dirty="0"/>
              <a:t>CONSTRAINT </a:t>
            </a:r>
            <a:r>
              <a:rPr lang="en-US" sz="1700" dirty="0" err="1"/>
              <a:t>Kiln_PK</a:t>
            </a:r>
            <a:r>
              <a:rPr lang="en-US" sz="1700" dirty="0"/>
              <a:t> primary key (</a:t>
            </a:r>
            <a:r>
              <a:rPr lang="en-US" sz="1700" dirty="0" err="1"/>
              <a:t>KilnID</a:t>
            </a:r>
            <a:r>
              <a:rPr lang="en-US" sz="1700" dirty="0"/>
              <a:t>) );</a:t>
            </a:r>
            <a:endParaRPr lang="en-US" sz="1700" dirty="0"/>
          </a:p>
          <a:p>
            <a:pPr marL="0" indent="0">
              <a:buNone/>
            </a:pPr>
            <a:endParaRPr lang="en-US" sz="1700" dirty="0"/>
          </a:p>
          <a:p>
            <a:pPr marL="0" indent="0">
              <a:buNone/>
            </a:pPr>
            <a:endParaRPr lang="en-US" sz="1700" dirty="0"/>
          </a:p>
          <a:p>
            <a:pPr marL="0" indent="0">
              <a:buNone/>
            </a:pPr>
            <a:endParaRPr lang="en-US" sz="1700" dirty="0"/>
          </a:p>
          <a:p>
            <a:pPr marL="0" indent="0">
              <a:buNone/>
            </a:pPr>
            <a:endParaRPr lang="en-IN" sz="1700" dirty="0"/>
          </a:p>
        </p:txBody>
      </p:sp>
      <p:pic>
        <p:nvPicPr>
          <p:cNvPr id="15" name="Picture 14" descr="A screenshot of a cell phone&#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l="15066" t="40827" r="52055" b="25276"/>
          <a:stretch>
            <a:fillRect/>
          </a:stretch>
        </p:blipFill>
        <p:spPr>
          <a:xfrm>
            <a:off x="5276430" y="630936"/>
            <a:ext cx="6345252" cy="3695404"/>
          </a:xfrm>
          <a:prstGeom prst="rect">
            <a:avLst/>
          </a:prstGeom>
        </p:spPr>
      </p:pic>
      <p:sp>
        <p:nvSpPr>
          <p:cNvPr id="16" name="TextBox 15"/>
          <p:cNvSpPr txBox="1"/>
          <p:nvPr/>
        </p:nvSpPr>
        <p:spPr>
          <a:xfrm>
            <a:off x="6373504" y="4517409"/>
            <a:ext cx="4735774" cy="1200329"/>
          </a:xfrm>
          <a:prstGeom prst="rect">
            <a:avLst/>
          </a:prstGeom>
          <a:noFill/>
        </p:spPr>
        <p:txBody>
          <a:bodyPr wrap="square" rtlCol="0">
            <a:spAutoFit/>
          </a:bodyPr>
          <a:lstStyle/>
          <a:p>
            <a:r>
              <a:rPr lang="en-US" dirty="0"/>
              <a:t>-- </a:t>
            </a:r>
            <a:r>
              <a:rPr lang="en-US" b="1" dirty="0"/>
              <a:t>TBK : </a:t>
            </a:r>
            <a:r>
              <a:rPr lang="en-US" dirty="0"/>
              <a:t>Three Booster Kiln</a:t>
            </a:r>
            <a:endParaRPr lang="en-US" dirty="0"/>
          </a:p>
          <a:p>
            <a:r>
              <a:rPr lang="en-US" dirty="0"/>
              <a:t>-- </a:t>
            </a:r>
            <a:r>
              <a:rPr lang="en-US" b="1" dirty="0"/>
              <a:t>FBK : </a:t>
            </a:r>
            <a:r>
              <a:rPr lang="en-US" dirty="0"/>
              <a:t>Four Booster Kiln</a:t>
            </a:r>
            <a:endParaRPr lang="en-US" dirty="0"/>
          </a:p>
          <a:p>
            <a:r>
              <a:rPr lang="en-US" dirty="0"/>
              <a:t>--</a:t>
            </a:r>
            <a:r>
              <a:rPr lang="en-US" b="1" dirty="0"/>
              <a:t>Total Number of Kilns : </a:t>
            </a:r>
            <a:r>
              <a:rPr lang="en-US" dirty="0"/>
              <a:t>6</a:t>
            </a:r>
            <a:endParaRPr lang="en-US" dirty="0"/>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7" name="Rectangle 76"/>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1480" y="991443"/>
            <a:ext cx="4443154" cy="1087819"/>
          </a:xfrm>
        </p:spPr>
        <p:txBody>
          <a:bodyPr anchor="b">
            <a:normAutofit/>
          </a:bodyPr>
          <a:lstStyle/>
          <a:p>
            <a:r>
              <a:rPr lang="en-IN" sz="3400"/>
              <a:t>Booster House DDL</a:t>
            </a:r>
            <a:endParaRPr lang="en-IN" sz="3400"/>
          </a:p>
        </p:txBody>
      </p:sp>
      <p:sp>
        <p:nvSpPr>
          <p:cNvPr id="79" name="Rectangle 78"/>
          <p:cNvSpPr>
            <a:spLocks noGrp="1" noRot="1" noChangeAspect="1" noMove="1" noResize="1" noEditPoints="1" noAdjustHandles="1" noChangeArrowheads="1" noChangeShapeType="1" noTextEdit="1"/>
          </p:cNvSpPr>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Rectangle 80"/>
          <p:cNvSpPr>
            <a:spLocks noGrp="1" noRot="1" noChangeAspect="1" noMove="1" noResize="1" noEditPoints="1" noAdjustHandles="1" noChangeArrowheads="1" noChangeShapeType="1" noTextEdit="1"/>
          </p:cNvSpPr>
          <p:nvPr/>
        </p:nvSpPr>
        <p:spPr>
          <a:xfrm>
            <a:off x="411480" y="2285541"/>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411480" y="2684095"/>
            <a:ext cx="4443154" cy="3492868"/>
          </a:xfrm>
        </p:spPr>
        <p:txBody>
          <a:bodyPr>
            <a:normAutofit/>
          </a:bodyPr>
          <a:lstStyle/>
          <a:p>
            <a:pPr marL="0" indent="0">
              <a:lnSpc>
                <a:spcPct val="100000"/>
              </a:lnSpc>
              <a:buNone/>
            </a:pPr>
            <a:r>
              <a:rPr lang="en-IN" sz="1200"/>
              <a:t>CREATE TABLE BoosterHouse </a:t>
            </a:r>
            <a:endParaRPr lang="en-IN" sz="1200"/>
          </a:p>
          <a:p>
            <a:pPr marL="0" indent="0">
              <a:lnSpc>
                <a:spcPct val="100000"/>
              </a:lnSpc>
              <a:buNone/>
            </a:pPr>
            <a:r>
              <a:rPr lang="en-US" sz="1200"/>
              <a:t>(KilnID1 char(3) not null, </a:t>
            </a:r>
            <a:endParaRPr lang="en-US" sz="1200"/>
          </a:p>
          <a:p>
            <a:pPr marL="0" indent="0">
              <a:lnSpc>
                <a:spcPct val="100000"/>
              </a:lnSpc>
              <a:buNone/>
            </a:pPr>
            <a:r>
              <a:rPr lang="en-US" sz="1200"/>
              <a:t>KilnID2 char(3) not null, </a:t>
            </a:r>
            <a:endParaRPr lang="en-US" sz="1200"/>
          </a:p>
          <a:p>
            <a:pPr marL="0" indent="0">
              <a:lnSpc>
                <a:spcPct val="100000"/>
              </a:lnSpc>
              <a:buNone/>
            </a:pPr>
            <a:r>
              <a:rPr lang="en-US" sz="1200"/>
              <a:t>BoosterHouseID char(3) not null, </a:t>
            </a:r>
            <a:endParaRPr lang="en-US" sz="1200"/>
          </a:p>
          <a:p>
            <a:pPr marL="0" indent="0">
              <a:lnSpc>
                <a:spcPct val="100000"/>
              </a:lnSpc>
              <a:buNone/>
            </a:pPr>
            <a:r>
              <a:rPr lang="en-IN" sz="1200"/>
              <a:t>FilterType varchar(10), </a:t>
            </a:r>
            <a:endParaRPr lang="en-IN" sz="1200"/>
          </a:p>
          <a:p>
            <a:pPr marL="0" indent="0">
              <a:lnSpc>
                <a:spcPct val="100000"/>
              </a:lnSpc>
              <a:buNone/>
            </a:pPr>
            <a:r>
              <a:rPr lang="en-US" sz="1200"/>
              <a:t>CONSTRAINT FilterType_CHK CHECK(FilterType='Nylon' or FilterType='Ferrule'),</a:t>
            </a:r>
            <a:endParaRPr lang="en-US" sz="1200"/>
          </a:p>
          <a:p>
            <a:pPr marL="0" indent="0">
              <a:lnSpc>
                <a:spcPct val="100000"/>
              </a:lnSpc>
              <a:buNone/>
            </a:pPr>
            <a:r>
              <a:rPr lang="en-US" sz="1200"/>
              <a:t>CONSTRAINT BoosterHouse_PK PRIMARY KEY (BoosterHouseID), </a:t>
            </a:r>
            <a:endParaRPr lang="en-US" sz="1200"/>
          </a:p>
          <a:p>
            <a:pPr marL="0" indent="0">
              <a:lnSpc>
                <a:spcPct val="100000"/>
              </a:lnSpc>
              <a:buNone/>
            </a:pPr>
            <a:r>
              <a:rPr lang="en-US" sz="1200"/>
              <a:t>CONSTRAINT BoosterHouse_FK1 FOREIGN KEY (KilnID1) references Kiln(KilnID),</a:t>
            </a:r>
            <a:endParaRPr lang="en-US" sz="1200"/>
          </a:p>
          <a:p>
            <a:pPr marL="0" indent="0">
              <a:lnSpc>
                <a:spcPct val="100000"/>
              </a:lnSpc>
              <a:buNone/>
            </a:pPr>
            <a:r>
              <a:rPr lang="en-US" sz="1200"/>
              <a:t>CONSTRAINT BoosterHouse_FK2 FOREIGN KEY (KilnID2) REFERENCES Kiln(KilnID));</a:t>
            </a:r>
            <a:endParaRPr lang="en-IN" sz="1200"/>
          </a:p>
        </p:txBody>
      </p:sp>
      <p:pic>
        <p:nvPicPr>
          <p:cNvPr id="5" name="Picture 4" descr="A screenshot of a cell phone&#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l="18589" t="50000" r="23579" b="30804"/>
          <a:stretch>
            <a:fillRect/>
          </a:stretch>
        </p:blipFill>
        <p:spPr>
          <a:xfrm>
            <a:off x="6560456" y="2620776"/>
            <a:ext cx="5265783" cy="1561094"/>
          </a:xfrm>
          <a:prstGeom prst="rect">
            <a:avLst/>
          </a:prstGeom>
        </p:spPr>
      </p:pic>
      <p:sp>
        <p:nvSpPr>
          <p:cNvPr id="51" name="TextBox 50"/>
          <p:cNvSpPr txBox="1"/>
          <p:nvPr/>
        </p:nvSpPr>
        <p:spPr>
          <a:xfrm>
            <a:off x="6916982" y="4791670"/>
            <a:ext cx="4085286" cy="923330"/>
          </a:xfrm>
          <a:prstGeom prst="rect">
            <a:avLst/>
          </a:prstGeom>
          <a:noFill/>
        </p:spPr>
        <p:txBody>
          <a:bodyPr wrap="square" rtlCol="0">
            <a:spAutoFit/>
          </a:bodyPr>
          <a:lstStyle/>
          <a:p>
            <a:r>
              <a:rPr lang="en-IN" b="1" dirty="0"/>
              <a:t>Total Booster Houses </a:t>
            </a:r>
            <a:r>
              <a:rPr lang="en-IN" dirty="0"/>
              <a:t>: 3</a:t>
            </a:r>
            <a:br>
              <a:rPr lang="en-IN" dirty="0"/>
            </a:br>
            <a:r>
              <a:rPr lang="en-IN" b="1" dirty="0"/>
              <a:t>Two types of Filters : </a:t>
            </a:r>
            <a:r>
              <a:rPr lang="en-IN" dirty="0"/>
              <a:t>Nylon and Ferrule </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2648" y="462999"/>
            <a:ext cx="6074755" cy="1536192"/>
          </a:xfrm>
        </p:spPr>
        <p:txBody>
          <a:bodyPr anchor="b">
            <a:normAutofit/>
          </a:bodyPr>
          <a:lstStyle/>
          <a:p>
            <a:r>
              <a:rPr lang="en-IN" sz="5200" dirty="0"/>
              <a:t>Booster Base DDL</a:t>
            </a:r>
            <a:endParaRPr lang="en-IN" sz="5200" dirty="0"/>
          </a:p>
        </p:txBody>
      </p:sp>
      <p:sp>
        <p:nvSpPr>
          <p:cNvPr id="21" name="Rectangle 20"/>
          <p:cNvSpPr>
            <a:spLocks noGrp="1" noRot="1" noChangeAspect="1" noMove="1" noResize="1" noEditPoints="1" noAdjustHandles="1" noChangeArrowheads="1" noChangeShapeType="1" noTextEdit="1"/>
          </p:cNvSpPr>
          <p:nvPr/>
        </p:nvSpPr>
        <p:spPr>
          <a:xfrm rot="5400000">
            <a:off x="853202"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p:cNvSpPr>
            <a:spLocks noGrp="1" noRot="1" noChangeAspect="1" noMove="1" noResize="1" noEditPoints="1" noAdjustHandles="1" noChangeArrowheads="1" noChangeShapeType="1" noTextEdit="1"/>
          </p:cNvSpPr>
          <p:nvPr/>
        </p:nvSpPr>
        <p:spPr>
          <a:xfrm>
            <a:off x="61850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612648" y="3355848"/>
            <a:ext cx="6268770" cy="2825496"/>
          </a:xfrm>
        </p:spPr>
        <p:txBody>
          <a:bodyPr>
            <a:normAutofit/>
          </a:bodyPr>
          <a:lstStyle/>
          <a:p>
            <a:pPr marL="0" indent="0">
              <a:buNone/>
            </a:pPr>
            <a:r>
              <a:rPr lang="en-IN" sz="1800" dirty="0"/>
              <a:t>CREATE TABLE </a:t>
            </a:r>
            <a:r>
              <a:rPr lang="en-IN" sz="1800" dirty="0" err="1"/>
              <a:t>Booster_Base</a:t>
            </a:r>
            <a:r>
              <a:rPr lang="en-IN" sz="1800" dirty="0"/>
              <a:t> </a:t>
            </a:r>
            <a:endParaRPr lang="en-IN" sz="1800" dirty="0"/>
          </a:p>
          <a:p>
            <a:pPr marL="0" indent="0">
              <a:buNone/>
            </a:pPr>
            <a:r>
              <a:rPr lang="en-IN" sz="1800" dirty="0"/>
              <a:t>( </a:t>
            </a:r>
            <a:r>
              <a:rPr lang="en-IN" sz="1800" dirty="0" err="1"/>
              <a:t>BaseID</a:t>
            </a:r>
            <a:r>
              <a:rPr lang="en-IN" sz="1800" dirty="0"/>
              <a:t> int not null, </a:t>
            </a:r>
            <a:endParaRPr lang="en-IN" sz="1800" dirty="0"/>
          </a:p>
          <a:p>
            <a:pPr marL="0" indent="0">
              <a:buNone/>
            </a:pPr>
            <a:r>
              <a:rPr lang="en-US" sz="1800" dirty="0" err="1"/>
              <a:t>BoosterHouseID</a:t>
            </a:r>
            <a:r>
              <a:rPr lang="en-US" sz="1800" dirty="0"/>
              <a:t> char(3) not null, </a:t>
            </a:r>
            <a:endParaRPr lang="en-US" sz="1800" dirty="0"/>
          </a:p>
          <a:p>
            <a:pPr marL="0" indent="0">
              <a:buNone/>
            </a:pPr>
            <a:r>
              <a:rPr lang="en-US" sz="1800" dirty="0"/>
              <a:t>CONSTRAINT </a:t>
            </a:r>
            <a:r>
              <a:rPr lang="en-US" sz="1800" dirty="0" err="1"/>
              <a:t>Base_PK</a:t>
            </a:r>
            <a:r>
              <a:rPr lang="en-US" sz="1800" dirty="0"/>
              <a:t> PRIMARY KEY (</a:t>
            </a:r>
            <a:r>
              <a:rPr lang="en-US" sz="1800" dirty="0" err="1"/>
              <a:t>BaseID</a:t>
            </a:r>
            <a:r>
              <a:rPr lang="en-US" sz="1800" dirty="0"/>
              <a:t>), </a:t>
            </a:r>
            <a:endParaRPr lang="en-US" sz="1800" dirty="0"/>
          </a:p>
          <a:p>
            <a:pPr marL="0" indent="0">
              <a:buNone/>
            </a:pPr>
            <a:r>
              <a:rPr lang="en-US" sz="1800" dirty="0"/>
              <a:t>CONSTRAINT </a:t>
            </a:r>
            <a:r>
              <a:rPr lang="en-US" sz="1800" dirty="0" err="1"/>
              <a:t>Base_FK</a:t>
            </a:r>
            <a:r>
              <a:rPr lang="en-US" sz="1800" dirty="0"/>
              <a:t> FOREIGN KEY (</a:t>
            </a:r>
            <a:r>
              <a:rPr lang="en-US" sz="1800" dirty="0" err="1"/>
              <a:t>BoosterHouseID</a:t>
            </a:r>
            <a:r>
              <a:rPr lang="en-US" sz="1800" dirty="0"/>
              <a:t>) </a:t>
            </a:r>
            <a:endParaRPr lang="en-US" sz="1800" dirty="0"/>
          </a:p>
          <a:p>
            <a:pPr marL="0" indent="0">
              <a:buNone/>
            </a:pPr>
            <a:r>
              <a:rPr lang="en-IN" sz="1800" dirty="0"/>
              <a:t>references </a:t>
            </a:r>
            <a:r>
              <a:rPr lang="en-IN" sz="1800" dirty="0" err="1"/>
              <a:t>BoosterHouse</a:t>
            </a:r>
            <a:r>
              <a:rPr lang="en-IN" sz="1800" dirty="0"/>
              <a:t>(</a:t>
            </a:r>
            <a:r>
              <a:rPr lang="en-IN" sz="1800" dirty="0" err="1"/>
              <a:t>BoosterHouseID</a:t>
            </a:r>
            <a:r>
              <a:rPr lang="en-IN" sz="1800" dirty="0"/>
              <a:t>) );</a:t>
            </a:r>
            <a:endParaRPr lang="en-IN" sz="1800" dirty="0"/>
          </a:p>
          <a:p>
            <a:pPr marL="0" indent="0">
              <a:buNone/>
            </a:pPr>
            <a:endParaRPr lang="en-IN" sz="1800" dirty="0"/>
          </a:p>
        </p:txBody>
      </p:sp>
      <p:pic>
        <p:nvPicPr>
          <p:cNvPr id="5" name="Picture 4" descr="A screenshot of a cell phone&#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l="15638" t="38567" r="43324" b="23041"/>
          <a:stretch>
            <a:fillRect/>
          </a:stretch>
        </p:blipFill>
        <p:spPr>
          <a:xfrm>
            <a:off x="7503427" y="3429000"/>
            <a:ext cx="3046292" cy="1806538"/>
          </a:xfrm>
          <a:prstGeom prst="rect">
            <a:avLst/>
          </a:prstGeom>
        </p:spPr>
      </p:pic>
      <p:sp>
        <p:nvSpPr>
          <p:cNvPr id="6" name="TextBox 5"/>
          <p:cNvSpPr txBox="1"/>
          <p:nvPr/>
        </p:nvSpPr>
        <p:spPr>
          <a:xfrm>
            <a:off x="7512789" y="5339037"/>
            <a:ext cx="4218963" cy="646331"/>
          </a:xfrm>
          <a:prstGeom prst="rect">
            <a:avLst/>
          </a:prstGeom>
          <a:noFill/>
        </p:spPr>
        <p:txBody>
          <a:bodyPr wrap="square" rtlCol="0">
            <a:spAutoFit/>
          </a:bodyPr>
          <a:lstStyle/>
          <a:p>
            <a:r>
              <a:rPr lang="en-IN" dirty="0"/>
              <a:t>Total 20 Booster Bases </a:t>
            </a:r>
            <a:br>
              <a:rPr lang="en-IN" dirty="0"/>
            </a:br>
            <a:r>
              <a:rPr lang="en-IN" dirty="0"/>
              <a:t>1 Booster/ Booster Base</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2648" y="58568"/>
            <a:ext cx="6268770" cy="1536192"/>
          </a:xfrm>
        </p:spPr>
        <p:txBody>
          <a:bodyPr anchor="b">
            <a:normAutofit/>
          </a:bodyPr>
          <a:lstStyle/>
          <a:p>
            <a:r>
              <a:rPr lang="en-IN" sz="5200" dirty="0"/>
              <a:t>Booster DDL</a:t>
            </a:r>
            <a:endParaRPr lang="en-IN" sz="5200" dirty="0"/>
          </a:p>
        </p:txBody>
      </p:sp>
      <p:sp>
        <p:nvSpPr>
          <p:cNvPr id="17" name="Rectangle 11"/>
          <p:cNvSpPr>
            <a:spLocks noGrp="1" noRot="1" noChangeAspect="1" noMove="1" noResize="1" noEditPoints="1" noAdjustHandles="1" noChangeArrowheads="1" noChangeShapeType="1" noTextEdit="1"/>
          </p:cNvSpPr>
          <p:nvPr/>
        </p:nvSpPr>
        <p:spPr>
          <a:xfrm rot="5400000">
            <a:off x="853202"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3"/>
          <p:cNvSpPr>
            <a:spLocks noGrp="1" noRot="1" noChangeAspect="1" noMove="1" noResize="1" noEditPoints="1" noAdjustHandles="1" noChangeArrowheads="1" noChangeShapeType="1" noTextEdit="1"/>
          </p:cNvSpPr>
          <p:nvPr/>
        </p:nvSpPr>
        <p:spPr>
          <a:xfrm>
            <a:off x="61850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593081" y="3011832"/>
            <a:ext cx="6268770" cy="2825496"/>
          </a:xfrm>
        </p:spPr>
        <p:txBody>
          <a:bodyPr>
            <a:normAutofit/>
          </a:bodyPr>
          <a:lstStyle/>
          <a:p>
            <a:pPr marL="0" indent="0">
              <a:buNone/>
            </a:pPr>
            <a:r>
              <a:rPr lang="en-IN" sz="1800" dirty="0"/>
              <a:t>CREATE TABLE Booster</a:t>
            </a:r>
            <a:endParaRPr lang="en-IN" sz="1800" dirty="0"/>
          </a:p>
          <a:p>
            <a:pPr marL="0" indent="0">
              <a:buNone/>
            </a:pPr>
            <a:r>
              <a:rPr lang="en-US" sz="1800" dirty="0"/>
              <a:t>( </a:t>
            </a:r>
            <a:r>
              <a:rPr lang="en-US" sz="1800" dirty="0" err="1"/>
              <a:t>BoosterID</a:t>
            </a:r>
            <a:r>
              <a:rPr lang="en-US" sz="1800" dirty="0"/>
              <a:t> char(4) not null, </a:t>
            </a:r>
            <a:endParaRPr lang="en-US" sz="1800" dirty="0"/>
          </a:p>
          <a:p>
            <a:pPr marL="0" indent="0">
              <a:buNone/>
            </a:pPr>
            <a:r>
              <a:rPr lang="en-IN" sz="1800" dirty="0"/>
              <a:t>[Type] char(2) , </a:t>
            </a:r>
            <a:endParaRPr lang="en-IN" sz="1800" dirty="0"/>
          </a:p>
          <a:p>
            <a:pPr marL="0" indent="0">
              <a:buNone/>
            </a:pPr>
            <a:r>
              <a:rPr lang="en-IN" sz="1800" dirty="0" err="1"/>
              <a:t>PurchaseDate</a:t>
            </a:r>
            <a:r>
              <a:rPr lang="en-IN" sz="1800" dirty="0"/>
              <a:t> date,</a:t>
            </a:r>
            <a:endParaRPr lang="en-IN" sz="1800" dirty="0"/>
          </a:p>
          <a:p>
            <a:pPr marL="0" indent="0">
              <a:buNone/>
            </a:pPr>
            <a:r>
              <a:rPr lang="en-US" sz="1800" dirty="0"/>
              <a:t>CONSTRAINT </a:t>
            </a:r>
            <a:r>
              <a:rPr lang="en-US" sz="1800" dirty="0" err="1"/>
              <a:t>Type_CHK</a:t>
            </a:r>
            <a:r>
              <a:rPr lang="en-US" sz="1800" dirty="0"/>
              <a:t> CHECK([Type]='SV' or [Type]='IV'),</a:t>
            </a:r>
            <a:endParaRPr lang="en-US" sz="1800" dirty="0"/>
          </a:p>
          <a:p>
            <a:pPr marL="0" indent="0">
              <a:buNone/>
            </a:pPr>
            <a:r>
              <a:rPr lang="en-US" sz="1800" dirty="0"/>
              <a:t>CONSTRAINT </a:t>
            </a:r>
            <a:r>
              <a:rPr lang="en-US" sz="1800" dirty="0" err="1"/>
              <a:t>Booster_PK</a:t>
            </a:r>
            <a:r>
              <a:rPr lang="en-US" sz="1800" dirty="0"/>
              <a:t> PRIMARY KEY (</a:t>
            </a:r>
            <a:r>
              <a:rPr lang="en-US" sz="1800" dirty="0" err="1"/>
              <a:t>BoosterID</a:t>
            </a:r>
            <a:r>
              <a:rPr lang="en-US" sz="1800" dirty="0"/>
              <a:t>) );</a:t>
            </a:r>
            <a:endParaRPr lang="en-IN" sz="1800" dirty="0"/>
          </a:p>
        </p:txBody>
      </p:sp>
      <p:pic>
        <p:nvPicPr>
          <p:cNvPr id="5" name="Picture 4" descr="A screenshot of a computer&#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l="22143" t="60419" r="62262" b="12087"/>
          <a:stretch>
            <a:fillRect/>
          </a:stretch>
        </p:blipFill>
        <p:spPr>
          <a:xfrm>
            <a:off x="7494066" y="2935541"/>
            <a:ext cx="4237686" cy="2176464"/>
          </a:xfrm>
          <a:prstGeom prst="rect">
            <a:avLst/>
          </a:prstGeom>
        </p:spPr>
      </p:pic>
      <p:sp>
        <p:nvSpPr>
          <p:cNvPr id="6" name="TextBox 5"/>
          <p:cNvSpPr txBox="1"/>
          <p:nvPr/>
        </p:nvSpPr>
        <p:spPr>
          <a:xfrm>
            <a:off x="7635337" y="5154348"/>
            <a:ext cx="3802743" cy="923330"/>
          </a:xfrm>
          <a:prstGeom prst="rect">
            <a:avLst/>
          </a:prstGeom>
          <a:noFill/>
        </p:spPr>
        <p:txBody>
          <a:bodyPr wrap="square" rtlCol="0">
            <a:spAutoFit/>
          </a:bodyPr>
          <a:lstStyle/>
          <a:p>
            <a:r>
              <a:rPr lang="en-IN" b="1" dirty="0"/>
              <a:t>Total Boosters : </a:t>
            </a:r>
            <a:r>
              <a:rPr lang="en-IN" dirty="0"/>
              <a:t>38</a:t>
            </a:r>
            <a:br>
              <a:rPr lang="en-IN" dirty="0"/>
            </a:br>
            <a:r>
              <a:rPr lang="en-IN" b="1" dirty="0"/>
              <a:t>Two types : </a:t>
            </a:r>
            <a:r>
              <a:rPr lang="en-IN" dirty="0"/>
              <a:t>Straight Vane (SV) , Inclined Vane (IV)</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1"/>
          <p:cNvSpPr>
            <a:spLocks noGrp="1" noRot="1" noChangeAspect="1" noMove="1" noResize="1" noEditPoints="1" noAdjustHandles="1" noChangeArrowheads="1" noChangeShapeType="1" noTextEdit="1"/>
          </p:cNvSpPr>
          <p:nvPr/>
        </p:nvSpPr>
        <p:spPr>
          <a:xfrm>
            <a:off x="409575" y="633619"/>
            <a:ext cx="427938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41247" y="978619"/>
            <a:ext cx="3410712" cy="1106424"/>
          </a:xfrm>
        </p:spPr>
        <p:txBody>
          <a:bodyPr>
            <a:normAutofit/>
          </a:bodyPr>
          <a:lstStyle/>
          <a:p>
            <a:r>
              <a:rPr lang="en-IN" sz="2800"/>
              <a:t>Kiln Timeline DDL</a:t>
            </a:r>
            <a:endParaRPr lang="en-IN" sz="2800"/>
          </a:p>
        </p:txBody>
      </p:sp>
      <p:sp>
        <p:nvSpPr>
          <p:cNvPr id="19" name="Rectangle 13"/>
          <p:cNvSpPr>
            <a:spLocks noGrp="1" noRot="1" noChangeAspect="1" noMove="1" noResize="1" noEditPoints="1" noAdjustHandles="1" noChangeArrowheads="1" noChangeShapeType="1" noTextEdit="1"/>
          </p:cNvSpPr>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p:cNvSpPr>
            <a:spLocks noGrp="1" noRot="1" noChangeAspect="1" noMove="1" noResize="1" noEditPoints="1" noAdjustHandles="1" noChangeArrowheads="1" noChangeShapeType="1" noTextEdit="1"/>
          </p:cNvSpPr>
          <p:nvPr/>
        </p:nvSpPr>
        <p:spPr>
          <a:xfrm>
            <a:off x="877459" y="2093976"/>
            <a:ext cx="3328416"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841248" y="2252870"/>
            <a:ext cx="3911718" cy="3560251"/>
          </a:xfrm>
        </p:spPr>
        <p:txBody>
          <a:bodyPr>
            <a:normAutofit fontScale="92500" lnSpcReduction="20000"/>
          </a:bodyPr>
          <a:lstStyle/>
          <a:p>
            <a:pPr marL="0" indent="0">
              <a:lnSpc>
                <a:spcPct val="100000"/>
              </a:lnSpc>
              <a:buNone/>
            </a:pPr>
            <a:r>
              <a:rPr lang="en-IN" sz="1400" dirty="0"/>
              <a:t>CREATE TABLE </a:t>
            </a:r>
            <a:r>
              <a:rPr lang="en-IN" sz="1400" dirty="0" err="1"/>
              <a:t>KilnTimeline</a:t>
            </a:r>
            <a:endParaRPr lang="en-IN" sz="1400" dirty="0"/>
          </a:p>
          <a:p>
            <a:pPr marL="0" indent="0">
              <a:lnSpc>
                <a:spcPct val="100000"/>
              </a:lnSpc>
              <a:buNone/>
            </a:pPr>
            <a:r>
              <a:rPr lang="en-US" sz="1400" dirty="0"/>
              <a:t>(</a:t>
            </a:r>
            <a:r>
              <a:rPr lang="en-US" sz="1400" dirty="0" err="1"/>
              <a:t>KilnTimelineID</a:t>
            </a:r>
            <a:r>
              <a:rPr lang="en-US" sz="1400" dirty="0"/>
              <a:t> int not null PRIMARY KEY IDENTITY (1,1) ,</a:t>
            </a:r>
            <a:endParaRPr lang="en-US" sz="1400" dirty="0"/>
          </a:p>
          <a:p>
            <a:pPr marL="0" indent="0">
              <a:lnSpc>
                <a:spcPct val="100000"/>
              </a:lnSpc>
              <a:buNone/>
            </a:pPr>
            <a:r>
              <a:rPr lang="en-US" sz="1400" dirty="0" err="1"/>
              <a:t>KilnID</a:t>
            </a:r>
            <a:r>
              <a:rPr lang="en-US" sz="1400" dirty="0"/>
              <a:t> char(3) not null, </a:t>
            </a:r>
            <a:endParaRPr lang="en-US" sz="1400" dirty="0"/>
          </a:p>
          <a:p>
            <a:pPr marL="0" indent="0">
              <a:lnSpc>
                <a:spcPct val="100000"/>
              </a:lnSpc>
              <a:buNone/>
            </a:pPr>
            <a:r>
              <a:rPr lang="en-US" sz="1400" dirty="0"/>
              <a:t>Base char(3)not null, </a:t>
            </a:r>
            <a:endParaRPr lang="en-US" sz="1400" dirty="0"/>
          </a:p>
          <a:p>
            <a:pPr marL="0" indent="0">
              <a:lnSpc>
                <a:spcPct val="100000"/>
              </a:lnSpc>
              <a:buNone/>
            </a:pPr>
            <a:r>
              <a:rPr lang="en-IN" sz="1400" dirty="0" err="1"/>
              <a:t>BoosterRemoved</a:t>
            </a:r>
            <a:r>
              <a:rPr lang="en-IN" sz="1400" dirty="0"/>
              <a:t> char(4), </a:t>
            </a:r>
            <a:endParaRPr lang="en-IN" sz="1400" dirty="0"/>
          </a:p>
          <a:p>
            <a:pPr marL="0" indent="0">
              <a:lnSpc>
                <a:spcPct val="100000"/>
              </a:lnSpc>
              <a:buNone/>
            </a:pPr>
            <a:r>
              <a:rPr lang="en-IN" sz="1400" dirty="0" err="1"/>
              <a:t>BoosterInstalled</a:t>
            </a:r>
            <a:r>
              <a:rPr lang="en-IN" sz="1400" dirty="0"/>
              <a:t> char(4), </a:t>
            </a:r>
            <a:endParaRPr lang="en-IN" sz="1400" dirty="0"/>
          </a:p>
          <a:p>
            <a:pPr marL="0" indent="0">
              <a:lnSpc>
                <a:spcPct val="100000"/>
              </a:lnSpc>
              <a:buNone/>
            </a:pPr>
            <a:r>
              <a:rPr lang="en-IN" sz="1400" dirty="0"/>
              <a:t>[Date] date not null, </a:t>
            </a:r>
            <a:endParaRPr lang="en-IN" sz="1400" dirty="0"/>
          </a:p>
          <a:p>
            <a:pPr marL="0" indent="0">
              <a:lnSpc>
                <a:spcPct val="100000"/>
              </a:lnSpc>
              <a:buNone/>
            </a:pPr>
            <a:r>
              <a:rPr lang="en-IN" sz="1400" dirty="0"/>
              <a:t>Remark varchar(100), </a:t>
            </a:r>
            <a:endParaRPr lang="en-IN" sz="1400" dirty="0"/>
          </a:p>
          <a:p>
            <a:pPr marL="0" indent="0">
              <a:lnSpc>
                <a:spcPct val="100000"/>
              </a:lnSpc>
              <a:buNone/>
            </a:pPr>
            <a:r>
              <a:rPr lang="en-IN" sz="1400" dirty="0"/>
              <a:t>CONSTRAINT KilnTimeline_FK1 FOREIGN KEY (</a:t>
            </a:r>
            <a:r>
              <a:rPr lang="en-IN" sz="1400" dirty="0" err="1"/>
              <a:t>KilnID</a:t>
            </a:r>
            <a:r>
              <a:rPr lang="en-IN" sz="1400" dirty="0"/>
              <a:t>) references Kiln(</a:t>
            </a:r>
            <a:r>
              <a:rPr lang="en-IN" sz="1400" dirty="0" err="1"/>
              <a:t>KilnID</a:t>
            </a:r>
            <a:r>
              <a:rPr lang="en-IN" sz="1400" dirty="0"/>
              <a:t>),</a:t>
            </a:r>
            <a:endParaRPr lang="en-IN" sz="1400" dirty="0"/>
          </a:p>
          <a:p>
            <a:pPr marL="0" indent="0">
              <a:lnSpc>
                <a:spcPct val="100000"/>
              </a:lnSpc>
              <a:buNone/>
            </a:pPr>
            <a:r>
              <a:rPr lang="en-US" sz="1400" dirty="0" err="1"/>
              <a:t>TimelineNumber</a:t>
            </a:r>
            <a:r>
              <a:rPr lang="en-US" sz="1400" dirty="0"/>
              <a:t> AS 'KT' + RIGHT('000'+cast(</a:t>
            </a:r>
            <a:r>
              <a:rPr lang="en-US" sz="1400" dirty="0" err="1"/>
              <a:t>KilnTimelineID</a:t>
            </a:r>
            <a:r>
              <a:rPr lang="en-US" sz="1400" dirty="0"/>
              <a:t> as varchar(7)),7));</a:t>
            </a:r>
            <a:endParaRPr lang="en-IN" sz="1400" dirty="0"/>
          </a:p>
        </p:txBody>
      </p:sp>
      <p:pic>
        <p:nvPicPr>
          <p:cNvPr id="5" name="Picture 4" descr="A screenshot of a computer&#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l="24167" t="60418" r="34166" b="12525"/>
          <a:stretch>
            <a:fillRect/>
          </a:stretch>
        </p:blipFill>
        <p:spPr>
          <a:xfrm>
            <a:off x="5184638" y="2200771"/>
            <a:ext cx="6592833" cy="2355873"/>
          </a:xfrm>
          <a:prstGeom prst="rect">
            <a:avLst/>
          </a:prstGeom>
        </p:spPr>
      </p:pic>
      <p:sp>
        <p:nvSpPr>
          <p:cNvPr id="6" name="TextBox 5"/>
          <p:cNvSpPr txBox="1"/>
          <p:nvPr/>
        </p:nvSpPr>
        <p:spPr>
          <a:xfrm>
            <a:off x="5184638" y="4775200"/>
            <a:ext cx="6592833" cy="646331"/>
          </a:xfrm>
          <a:prstGeom prst="rect">
            <a:avLst/>
          </a:prstGeom>
          <a:noFill/>
        </p:spPr>
        <p:txBody>
          <a:bodyPr wrap="square" rtlCol="0">
            <a:spAutoFit/>
          </a:bodyPr>
          <a:lstStyle/>
          <a:p>
            <a:r>
              <a:rPr lang="en-IN" b="1" dirty="0"/>
              <a:t>Dynamic Table :</a:t>
            </a:r>
            <a:r>
              <a:rPr lang="en-IN" dirty="0"/>
              <a:t> Generated when anomaly is detected in control room</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2648" y="1078992"/>
            <a:ext cx="6268770" cy="1536192"/>
          </a:xfrm>
        </p:spPr>
        <p:txBody>
          <a:bodyPr anchor="b">
            <a:normAutofit/>
          </a:bodyPr>
          <a:lstStyle/>
          <a:p>
            <a:r>
              <a:rPr lang="en-IN" sz="5200"/>
              <a:t>Observations Lookup DDL </a:t>
            </a:r>
            <a:endParaRPr lang="en-IN" sz="5200"/>
          </a:p>
        </p:txBody>
      </p:sp>
      <p:sp>
        <p:nvSpPr>
          <p:cNvPr id="12" name="Rectangle 11"/>
          <p:cNvSpPr>
            <a:spLocks noGrp="1" noRot="1" noChangeAspect="1" noMove="1" noResize="1" noEditPoints="1" noAdjustHandles="1" noChangeArrowheads="1" noChangeShapeType="1" noTextEdit="1"/>
          </p:cNvSpPr>
          <p:nvPr/>
        </p:nvSpPr>
        <p:spPr>
          <a:xfrm rot="5400000">
            <a:off x="853202"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p:cNvSpPr>
            <a:spLocks noGrp="1" noRot="1" noChangeAspect="1" noMove="1" noResize="1" noEditPoints="1" noAdjustHandles="1" noChangeArrowheads="1" noChangeShapeType="1" noTextEdit="1"/>
          </p:cNvSpPr>
          <p:nvPr/>
        </p:nvSpPr>
        <p:spPr>
          <a:xfrm>
            <a:off x="61850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612648" y="3355848"/>
            <a:ext cx="6268770" cy="2825496"/>
          </a:xfrm>
        </p:spPr>
        <p:txBody>
          <a:bodyPr>
            <a:normAutofit/>
          </a:bodyPr>
          <a:lstStyle/>
          <a:p>
            <a:pPr marL="0" indent="0">
              <a:buNone/>
            </a:pPr>
            <a:r>
              <a:rPr lang="en-US" sz="1800" dirty="0"/>
              <a:t>CREATE TABLE [</a:t>
            </a:r>
            <a:r>
              <a:rPr lang="en-US" sz="1800" dirty="0" err="1"/>
              <a:t>dbo</a:t>
            </a:r>
            <a:r>
              <a:rPr lang="en-US" sz="1800" dirty="0"/>
              <a:t>].[Observation LU](</a:t>
            </a:r>
            <a:endParaRPr lang="en-US" sz="1800" dirty="0"/>
          </a:p>
          <a:p>
            <a:pPr marL="0" indent="0">
              <a:buNone/>
            </a:pPr>
            <a:r>
              <a:rPr lang="en-US" sz="1800" dirty="0"/>
              <a:t>[</a:t>
            </a:r>
            <a:r>
              <a:rPr lang="en-US" sz="1800" dirty="0" err="1"/>
              <a:t>ObservationIndex</a:t>
            </a:r>
            <a:r>
              <a:rPr lang="en-US" sz="1800" dirty="0"/>
              <a:t>] [numeric](5, 0) PRIMARY KEY ,</a:t>
            </a:r>
            <a:endParaRPr lang="en-US" sz="1800" dirty="0"/>
          </a:p>
          <a:p>
            <a:pPr marL="0" indent="0">
              <a:buNone/>
            </a:pPr>
            <a:r>
              <a:rPr lang="en-IN" sz="1800" dirty="0"/>
              <a:t>[Description] [varchar](50) NULL)</a:t>
            </a:r>
            <a:endParaRPr lang="en-IN" sz="1800" dirty="0"/>
          </a:p>
        </p:txBody>
      </p:sp>
      <p:pic>
        <p:nvPicPr>
          <p:cNvPr id="5" name="Picture 4" descr="A screenshot of a computer&#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l="23810" t="60856" r="61190" b="19506"/>
          <a:stretch>
            <a:fillRect/>
          </a:stretch>
        </p:blipFill>
        <p:spPr>
          <a:xfrm>
            <a:off x="7494066" y="1879412"/>
            <a:ext cx="4237686" cy="302365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2648" y="1078992"/>
            <a:ext cx="6268770" cy="1536192"/>
          </a:xfrm>
        </p:spPr>
        <p:txBody>
          <a:bodyPr anchor="b">
            <a:normAutofit/>
          </a:bodyPr>
          <a:lstStyle/>
          <a:p>
            <a:r>
              <a:rPr lang="en-IN" sz="5200"/>
              <a:t>Observations DDL</a:t>
            </a:r>
            <a:endParaRPr lang="en-IN" sz="5200"/>
          </a:p>
        </p:txBody>
      </p:sp>
      <p:sp>
        <p:nvSpPr>
          <p:cNvPr id="12" name="Rectangle 11"/>
          <p:cNvSpPr>
            <a:spLocks noGrp="1" noRot="1" noChangeAspect="1" noMove="1" noResize="1" noEditPoints="1" noAdjustHandles="1" noChangeArrowheads="1" noChangeShapeType="1" noTextEdit="1"/>
          </p:cNvSpPr>
          <p:nvPr/>
        </p:nvSpPr>
        <p:spPr>
          <a:xfrm rot="5400000">
            <a:off x="853202"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p:cNvSpPr>
            <a:spLocks noGrp="1" noRot="1" noChangeAspect="1" noMove="1" noResize="1" noEditPoints="1" noAdjustHandles="1" noChangeArrowheads="1" noChangeShapeType="1" noTextEdit="1"/>
          </p:cNvSpPr>
          <p:nvPr/>
        </p:nvSpPr>
        <p:spPr>
          <a:xfrm>
            <a:off x="61850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612648" y="3355848"/>
            <a:ext cx="6268770" cy="2825496"/>
          </a:xfrm>
        </p:spPr>
        <p:txBody>
          <a:bodyPr>
            <a:normAutofit/>
          </a:bodyPr>
          <a:lstStyle/>
          <a:p>
            <a:pPr marL="0" indent="0">
              <a:lnSpc>
                <a:spcPct val="100000"/>
              </a:lnSpc>
              <a:buNone/>
            </a:pPr>
            <a:r>
              <a:rPr lang="en-IN" sz="1700"/>
              <a:t>CREATE TABLE Observations</a:t>
            </a:r>
            <a:endParaRPr lang="en-IN" sz="1700"/>
          </a:p>
          <a:p>
            <a:pPr marL="0" indent="0">
              <a:lnSpc>
                <a:spcPct val="100000"/>
              </a:lnSpc>
              <a:buNone/>
            </a:pPr>
            <a:r>
              <a:rPr lang="en-IN" sz="1700"/>
              <a:t>( ObservationIndex int not null,</a:t>
            </a:r>
            <a:endParaRPr lang="en-IN" sz="1700"/>
          </a:p>
          <a:p>
            <a:pPr marL="0" indent="0">
              <a:lnSpc>
                <a:spcPct val="100000"/>
              </a:lnSpc>
              <a:buNone/>
            </a:pPr>
            <a:r>
              <a:rPr lang="en-IN" sz="1700"/>
              <a:t>  KilnTimelineID int not null ,</a:t>
            </a:r>
            <a:endParaRPr lang="en-IN" sz="1700"/>
          </a:p>
          <a:p>
            <a:pPr marL="0" indent="0">
              <a:lnSpc>
                <a:spcPct val="100000"/>
              </a:lnSpc>
              <a:buNone/>
            </a:pPr>
            <a:r>
              <a:rPr lang="en-IN" sz="1700"/>
              <a:t>  Remarks varchar(50),</a:t>
            </a:r>
            <a:endParaRPr lang="en-IN" sz="1700"/>
          </a:p>
          <a:p>
            <a:pPr marL="0" indent="0">
              <a:lnSpc>
                <a:spcPct val="100000"/>
              </a:lnSpc>
              <a:buNone/>
            </a:pPr>
            <a:r>
              <a:rPr lang="en-IN" sz="1700"/>
              <a:t>  CONSTRAINT Observations_FK FOREIGN KEY (KilnTimelineID) REFERENCES KilnTimeline(KilnTimelineID),</a:t>
            </a:r>
            <a:endParaRPr lang="en-IN" sz="1700"/>
          </a:p>
          <a:p>
            <a:pPr marL="0" indent="0">
              <a:lnSpc>
                <a:spcPct val="100000"/>
              </a:lnSpc>
              <a:buNone/>
            </a:pPr>
            <a:r>
              <a:rPr lang="en-US" sz="1700"/>
              <a:t>CONSTRAINT Observations_PK PRIMARY KEY ( ObservationIndex, KilnTimelineID));</a:t>
            </a:r>
            <a:endParaRPr lang="en-IN" sz="1700"/>
          </a:p>
        </p:txBody>
      </p:sp>
      <p:pic>
        <p:nvPicPr>
          <p:cNvPr id="5" name="Picture 4" descr="A screenshot of a computer&#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l="23929" t="60855" r="57857" b="12088"/>
          <a:stretch>
            <a:fillRect/>
          </a:stretch>
        </p:blipFill>
        <p:spPr>
          <a:xfrm>
            <a:off x="7494066" y="1675823"/>
            <a:ext cx="4237686" cy="3430831"/>
          </a:xfrm>
          <a:prstGeom prst="rect">
            <a:avLst/>
          </a:prstGeom>
        </p:spPr>
      </p:pic>
      <p:sp>
        <p:nvSpPr>
          <p:cNvPr id="6" name="TextBox 5"/>
          <p:cNvSpPr txBox="1"/>
          <p:nvPr/>
        </p:nvSpPr>
        <p:spPr>
          <a:xfrm>
            <a:off x="7494066" y="5254171"/>
            <a:ext cx="4085286" cy="923330"/>
          </a:xfrm>
          <a:prstGeom prst="rect">
            <a:avLst/>
          </a:prstGeom>
          <a:noFill/>
        </p:spPr>
        <p:txBody>
          <a:bodyPr wrap="square" rtlCol="0">
            <a:spAutoFit/>
          </a:bodyPr>
          <a:lstStyle/>
          <a:p>
            <a:r>
              <a:rPr lang="en-IN" dirty="0"/>
              <a:t>Dynamic Table updated during changing of Boosters on the Booster base</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1"/>
          <p:cNvSpPr>
            <a:spLocks noGrp="1" noRot="1" noChangeAspect="1" noMove="1" noResize="1" noEditPoints="1" noAdjustHandles="1" noChangeArrowheads="1" noChangeShapeType="1" noTextEdit="1"/>
          </p:cNvSpPr>
          <p:nvPr/>
        </p:nvSpPr>
        <p:spPr>
          <a:xfrm>
            <a:off x="409575" y="633619"/>
            <a:ext cx="427938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41247" y="978619"/>
            <a:ext cx="3410712" cy="1106424"/>
          </a:xfrm>
        </p:spPr>
        <p:txBody>
          <a:bodyPr>
            <a:normAutofit/>
          </a:bodyPr>
          <a:lstStyle/>
          <a:p>
            <a:r>
              <a:rPr lang="en-IN" sz="2800"/>
              <a:t>Repair DDL</a:t>
            </a:r>
            <a:endParaRPr lang="en-IN" sz="2800"/>
          </a:p>
        </p:txBody>
      </p:sp>
      <p:sp>
        <p:nvSpPr>
          <p:cNvPr id="19" name="Rectangle 13"/>
          <p:cNvSpPr>
            <a:spLocks noGrp="1" noRot="1" noChangeAspect="1" noMove="1" noResize="1" noEditPoints="1" noAdjustHandles="1" noChangeArrowheads="1" noChangeShapeType="1" noTextEdit="1"/>
          </p:cNvSpPr>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p:cNvSpPr>
            <a:spLocks noGrp="1" noRot="1" noChangeAspect="1" noMove="1" noResize="1" noEditPoints="1" noAdjustHandles="1" noChangeArrowheads="1" noChangeShapeType="1" noTextEdit="1"/>
          </p:cNvSpPr>
          <p:nvPr/>
        </p:nvSpPr>
        <p:spPr>
          <a:xfrm>
            <a:off x="877459" y="2093976"/>
            <a:ext cx="3328416"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841248" y="2252870"/>
            <a:ext cx="3412219" cy="3560251"/>
          </a:xfrm>
        </p:spPr>
        <p:txBody>
          <a:bodyPr>
            <a:normAutofit/>
          </a:bodyPr>
          <a:lstStyle/>
          <a:p>
            <a:pPr marL="0" indent="0">
              <a:lnSpc>
                <a:spcPct val="100000"/>
              </a:lnSpc>
              <a:buNone/>
            </a:pPr>
            <a:r>
              <a:rPr lang="en-IN" sz="1400"/>
              <a:t>CREATE TABLE Repair</a:t>
            </a:r>
            <a:endParaRPr lang="en-IN" sz="1400"/>
          </a:p>
          <a:p>
            <a:pPr marL="0" indent="0">
              <a:lnSpc>
                <a:spcPct val="100000"/>
              </a:lnSpc>
              <a:buNone/>
            </a:pPr>
            <a:r>
              <a:rPr lang="en-US" sz="1400"/>
              <a:t>(RepairID int not null IDENTITY(1,1),</a:t>
            </a:r>
            <a:endParaRPr lang="en-US" sz="1400"/>
          </a:p>
          <a:p>
            <a:pPr marL="0" indent="0">
              <a:lnSpc>
                <a:spcPct val="100000"/>
              </a:lnSpc>
              <a:buNone/>
            </a:pPr>
            <a:r>
              <a:rPr lang="en-IN" sz="1400"/>
              <a:t>KilnTimelineID int not null ,</a:t>
            </a:r>
            <a:endParaRPr lang="en-IN" sz="1400"/>
          </a:p>
          <a:p>
            <a:pPr marL="0" indent="0">
              <a:lnSpc>
                <a:spcPct val="100000"/>
              </a:lnSpc>
              <a:buNone/>
            </a:pPr>
            <a:r>
              <a:rPr lang="en-IN" sz="1400"/>
              <a:t>InDate date not null,</a:t>
            </a:r>
            <a:endParaRPr lang="en-IN" sz="1400"/>
          </a:p>
          <a:p>
            <a:pPr marL="0" indent="0">
              <a:lnSpc>
                <a:spcPct val="100000"/>
              </a:lnSpc>
              <a:buNone/>
            </a:pPr>
            <a:r>
              <a:rPr lang="en-IN" sz="1400"/>
              <a:t>OutDate date,</a:t>
            </a:r>
            <a:endParaRPr lang="en-IN" sz="1400"/>
          </a:p>
          <a:p>
            <a:pPr marL="0" indent="0">
              <a:lnSpc>
                <a:spcPct val="100000"/>
              </a:lnSpc>
              <a:buNone/>
            </a:pPr>
            <a:r>
              <a:rPr lang="en-IN" sz="1400"/>
              <a:t>Remark varchar(50),</a:t>
            </a:r>
            <a:endParaRPr lang="en-IN" sz="1400"/>
          </a:p>
          <a:p>
            <a:pPr marL="0" indent="0">
              <a:lnSpc>
                <a:spcPct val="100000"/>
              </a:lnSpc>
              <a:buNone/>
            </a:pPr>
            <a:r>
              <a:rPr lang="en-IN" sz="1400"/>
              <a:t>CONSTRAINT Repair_FK FOREIGN KEY (KilnTimelineID) REFERENCES KilnTimeline(KilnTimelineID),</a:t>
            </a:r>
            <a:endParaRPr lang="en-IN" sz="1400"/>
          </a:p>
          <a:p>
            <a:pPr marL="0" indent="0">
              <a:lnSpc>
                <a:spcPct val="100000"/>
              </a:lnSpc>
              <a:buNone/>
            </a:pPr>
            <a:r>
              <a:rPr lang="en-US" sz="1400"/>
              <a:t>CONSTRAINT Repair_PK PRIMARY KEY (RepairID));</a:t>
            </a:r>
            <a:endParaRPr lang="en-US" sz="1400"/>
          </a:p>
          <a:p>
            <a:pPr marL="0" indent="0">
              <a:lnSpc>
                <a:spcPct val="100000"/>
              </a:lnSpc>
              <a:buNone/>
            </a:pPr>
            <a:endParaRPr lang="en-IN" sz="1400"/>
          </a:p>
        </p:txBody>
      </p:sp>
      <p:pic>
        <p:nvPicPr>
          <p:cNvPr id="5" name="Picture 4" descr="A screenshot of a computer&#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l="24167" t="60637" r="51309" b="11869"/>
          <a:stretch>
            <a:fillRect/>
          </a:stretch>
        </p:blipFill>
        <p:spPr>
          <a:xfrm>
            <a:off x="5120640" y="1345037"/>
            <a:ext cx="6656832" cy="3473706"/>
          </a:xfrm>
          <a:prstGeom prst="rect">
            <a:avLst/>
          </a:prstGeom>
        </p:spPr>
      </p:pic>
      <p:sp>
        <p:nvSpPr>
          <p:cNvPr id="6" name="TextBox 5"/>
          <p:cNvSpPr txBox="1"/>
          <p:nvPr/>
        </p:nvSpPr>
        <p:spPr>
          <a:xfrm>
            <a:off x="5123543" y="4992914"/>
            <a:ext cx="6658882" cy="923330"/>
          </a:xfrm>
          <a:prstGeom prst="rect">
            <a:avLst/>
          </a:prstGeom>
          <a:noFill/>
        </p:spPr>
        <p:txBody>
          <a:bodyPr wrap="square" rtlCol="0">
            <a:spAutoFit/>
          </a:bodyPr>
          <a:lstStyle/>
          <a:p>
            <a:r>
              <a:rPr lang="en-IN" dirty="0"/>
              <a:t>Table Updates when </a:t>
            </a:r>
            <a:br>
              <a:rPr lang="en-IN" dirty="0"/>
            </a:br>
            <a:r>
              <a:rPr lang="en-IN" dirty="0"/>
              <a:t>1. Booster is delivered to repair shop after failure</a:t>
            </a:r>
            <a:br>
              <a:rPr lang="en-IN" dirty="0"/>
            </a:br>
            <a:r>
              <a:rPr lang="en-IN" dirty="0"/>
              <a:t>2. When repairing is done and the job is “ Complete”</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2648" y="1078992"/>
            <a:ext cx="6268770" cy="1536192"/>
          </a:xfrm>
        </p:spPr>
        <p:txBody>
          <a:bodyPr anchor="b">
            <a:normAutofit/>
          </a:bodyPr>
          <a:lstStyle/>
          <a:p>
            <a:r>
              <a:rPr lang="en-IN" sz="5200"/>
              <a:t>Faults Lookup DDL</a:t>
            </a:r>
            <a:endParaRPr lang="en-IN" sz="5200"/>
          </a:p>
        </p:txBody>
      </p:sp>
      <p:sp>
        <p:nvSpPr>
          <p:cNvPr id="19" name="Rectangle 11"/>
          <p:cNvSpPr>
            <a:spLocks noGrp="1" noRot="1" noChangeAspect="1" noMove="1" noResize="1" noEditPoints="1" noAdjustHandles="1" noChangeArrowheads="1" noChangeShapeType="1" noTextEdit="1"/>
          </p:cNvSpPr>
          <p:nvPr/>
        </p:nvSpPr>
        <p:spPr>
          <a:xfrm rot="5400000">
            <a:off x="853202"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3"/>
          <p:cNvSpPr>
            <a:spLocks noGrp="1" noRot="1" noChangeAspect="1" noMove="1" noResize="1" noEditPoints="1" noAdjustHandles="1" noChangeArrowheads="1" noChangeShapeType="1" noTextEdit="1"/>
          </p:cNvSpPr>
          <p:nvPr/>
        </p:nvSpPr>
        <p:spPr>
          <a:xfrm>
            <a:off x="61850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612648" y="3355848"/>
            <a:ext cx="6268770" cy="2825496"/>
          </a:xfrm>
        </p:spPr>
        <p:txBody>
          <a:bodyPr>
            <a:normAutofit/>
          </a:bodyPr>
          <a:lstStyle/>
          <a:p>
            <a:pPr marL="0" indent="0">
              <a:buNone/>
            </a:pPr>
            <a:r>
              <a:rPr lang="en-IN" sz="1800"/>
              <a:t>CREATE TABLE [Faults LU]</a:t>
            </a:r>
            <a:endParaRPr lang="en-IN" sz="1800"/>
          </a:p>
          <a:p>
            <a:pPr marL="0" indent="0">
              <a:buNone/>
            </a:pPr>
            <a:r>
              <a:rPr lang="en-US" sz="1800"/>
              <a:t>(FaultID int not null PRIMARY KEY,</a:t>
            </a:r>
            <a:endParaRPr lang="en-US" sz="1800"/>
          </a:p>
          <a:p>
            <a:pPr marL="0" indent="0">
              <a:buNone/>
            </a:pPr>
            <a:r>
              <a:rPr lang="en-IN" sz="1800"/>
              <a:t>Fault varchar(50));</a:t>
            </a:r>
            <a:endParaRPr lang="en-IN" sz="1800"/>
          </a:p>
        </p:txBody>
      </p:sp>
      <p:pic>
        <p:nvPicPr>
          <p:cNvPr id="5" name="Picture 4" descr="A screenshot of a computer screen&#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l="22143" t="60637" r="60357" b="11869"/>
          <a:stretch>
            <a:fillRect/>
          </a:stretch>
        </p:blipFill>
        <p:spPr>
          <a:xfrm>
            <a:off x="7494066" y="1576996"/>
            <a:ext cx="4237686" cy="3628484"/>
          </a:xfrm>
          <a:prstGeom prst="rect">
            <a:avLst/>
          </a:prstGeom>
        </p:spPr>
      </p:pic>
      <p:sp>
        <p:nvSpPr>
          <p:cNvPr id="6" name="TextBox 5"/>
          <p:cNvSpPr txBox="1"/>
          <p:nvPr/>
        </p:nvSpPr>
        <p:spPr>
          <a:xfrm>
            <a:off x="7494066" y="5384800"/>
            <a:ext cx="4085286" cy="1200329"/>
          </a:xfrm>
          <a:prstGeom prst="rect">
            <a:avLst/>
          </a:prstGeom>
          <a:noFill/>
        </p:spPr>
        <p:txBody>
          <a:bodyPr wrap="square" rtlCol="0">
            <a:spAutoFit/>
          </a:bodyPr>
          <a:lstStyle/>
          <a:p>
            <a:r>
              <a:rPr lang="en-IN" dirty="0"/>
              <a:t>26 known part faults , plus a Misc. for an unusual fault , accompany with remark in the FAULTS INSEPCTION TABLE</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2648" y="1078992"/>
            <a:ext cx="6268770" cy="1536192"/>
          </a:xfrm>
        </p:spPr>
        <p:txBody>
          <a:bodyPr anchor="b">
            <a:normAutofit/>
          </a:bodyPr>
          <a:lstStyle/>
          <a:p>
            <a:r>
              <a:rPr lang="en-IN" sz="5200"/>
              <a:t>Faults Inspection DDL ( list)</a:t>
            </a:r>
            <a:endParaRPr lang="en-IN" sz="5200"/>
          </a:p>
        </p:txBody>
      </p:sp>
      <p:sp>
        <p:nvSpPr>
          <p:cNvPr id="12" name="Rectangle 11"/>
          <p:cNvSpPr>
            <a:spLocks noGrp="1" noRot="1" noChangeAspect="1" noMove="1" noResize="1" noEditPoints="1" noAdjustHandles="1" noChangeArrowheads="1" noChangeShapeType="1" noTextEdit="1"/>
          </p:cNvSpPr>
          <p:nvPr/>
        </p:nvSpPr>
        <p:spPr>
          <a:xfrm rot="5400000">
            <a:off x="853202"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p:cNvSpPr>
            <a:spLocks noGrp="1" noRot="1" noChangeAspect="1" noMove="1" noResize="1" noEditPoints="1" noAdjustHandles="1" noChangeArrowheads="1" noChangeShapeType="1" noTextEdit="1"/>
          </p:cNvSpPr>
          <p:nvPr/>
        </p:nvSpPr>
        <p:spPr>
          <a:xfrm>
            <a:off x="61850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612648" y="3355848"/>
            <a:ext cx="6268770" cy="2825496"/>
          </a:xfrm>
        </p:spPr>
        <p:txBody>
          <a:bodyPr>
            <a:normAutofit/>
          </a:bodyPr>
          <a:lstStyle/>
          <a:p>
            <a:pPr marL="0" indent="0">
              <a:lnSpc>
                <a:spcPct val="100000"/>
              </a:lnSpc>
              <a:buNone/>
            </a:pPr>
            <a:r>
              <a:rPr lang="en-IN" sz="1400"/>
              <a:t>CREATE TABLE [Faults inspection] </a:t>
            </a:r>
            <a:endParaRPr lang="en-IN" sz="1400"/>
          </a:p>
          <a:p>
            <a:pPr marL="0" indent="0">
              <a:lnSpc>
                <a:spcPct val="100000"/>
              </a:lnSpc>
              <a:buNone/>
            </a:pPr>
            <a:r>
              <a:rPr lang="en-IN" sz="1400"/>
              <a:t>(RepairID int not null, </a:t>
            </a:r>
            <a:endParaRPr lang="en-IN" sz="1400"/>
          </a:p>
          <a:p>
            <a:pPr marL="0" indent="0">
              <a:lnSpc>
                <a:spcPct val="100000"/>
              </a:lnSpc>
              <a:buNone/>
            </a:pPr>
            <a:r>
              <a:rPr lang="en-IN" sz="1400"/>
              <a:t>OccurDate date, </a:t>
            </a:r>
            <a:endParaRPr lang="en-IN" sz="1400"/>
          </a:p>
          <a:p>
            <a:pPr marL="0" indent="0">
              <a:lnSpc>
                <a:spcPct val="100000"/>
              </a:lnSpc>
              <a:buNone/>
            </a:pPr>
            <a:r>
              <a:rPr lang="en-IN" sz="1400"/>
              <a:t>FaultID int not null, </a:t>
            </a:r>
            <a:endParaRPr lang="en-IN" sz="1400"/>
          </a:p>
          <a:p>
            <a:pPr marL="0" indent="0">
              <a:lnSpc>
                <a:spcPct val="100000"/>
              </a:lnSpc>
              <a:buNone/>
            </a:pPr>
            <a:r>
              <a:rPr lang="en-IN" sz="1400"/>
              <a:t>Remark varchar(100), </a:t>
            </a:r>
            <a:endParaRPr lang="en-IN" sz="1400"/>
          </a:p>
          <a:p>
            <a:pPr marL="0" indent="0">
              <a:lnSpc>
                <a:spcPct val="100000"/>
              </a:lnSpc>
              <a:buNone/>
            </a:pPr>
            <a:r>
              <a:rPr lang="en-US" sz="1400"/>
              <a:t>CONSTRAINT [Faults inspection_FK] FOREIGN KEY (RepairID) REFERENCES [Repair](RepairID), </a:t>
            </a:r>
            <a:endParaRPr lang="en-US" sz="1400"/>
          </a:p>
          <a:p>
            <a:pPr marL="0" indent="0">
              <a:lnSpc>
                <a:spcPct val="100000"/>
              </a:lnSpc>
              <a:buNone/>
            </a:pPr>
            <a:r>
              <a:rPr lang="en-US" sz="1400"/>
              <a:t>CONSTRAINT [Faults inspection_PK] PRIMARY KEY (RepairID, FaultID) );</a:t>
            </a:r>
            <a:endParaRPr lang="en-IN" sz="1400"/>
          </a:p>
        </p:txBody>
      </p:sp>
      <p:pic>
        <p:nvPicPr>
          <p:cNvPr id="5" name="Picture 4" descr="A screenshot of a computer screen&#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l="24167" t="60419" r="58214" b="11869"/>
          <a:stretch>
            <a:fillRect/>
          </a:stretch>
        </p:blipFill>
        <p:spPr>
          <a:xfrm>
            <a:off x="7494066" y="1574961"/>
            <a:ext cx="4237686" cy="3632554"/>
          </a:xfrm>
          <a:prstGeom prst="rect">
            <a:avLst/>
          </a:prstGeom>
        </p:spPr>
      </p:pic>
      <p:sp>
        <p:nvSpPr>
          <p:cNvPr id="6" name="TextBox 5"/>
          <p:cNvSpPr txBox="1"/>
          <p:nvPr/>
        </p:nvSpPr>
        <p:spPr>
          <a:xfrm>
            <a:off x="7494066" y="5207515"/>
            <a:ext cx="4085286" cy="923330"/>
          </a:xfrm>
          <a:prstGeom prst="rect">
            <a:avLst/>
          </a:prstGeom>
          <a:noFill/>
        </p:spPr>
        <p:txBody>
          <a:bodyPr wrap="square" rtlCol="0">
            <a:spAutoFit/>
          </a:bodyPr>
          <a:lstStyle/>
          <a:p>
            <a:r>
              <a:rPr lang="en-IN" dirty="0"/>
              <a:t>Dynamic table , Can be looked upon like a list, updated when the part is dissembled and inspected for faults</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1480" y="991443"/>
            <a:ext cx="4443154" cy="1087819"/>
          </a:xfrm>
        </p:spPr>
        <p:txBody>
          <a:bodyPr anchor="b">
            <a:normAutofit/>
          </a:bodyPr>
          <a:lstStyle/>
          <a:p>
            <a:r>
              <a:rPr lang="en-IN" sz="3400"/>
              <a:t>Jobs DDL ( List)</a:t>
            </a:r>
            <a:endParaRPr lang="en-IN" sz="3400"/>
          </a:p>
        </p:txBody>
      </p:sp>
      <p:sp>
        <p:nvSpPr>
          <p:cNvPr id="12" name="Rectangle 11"/>
          <p:cNvSpPr>
            <a:spLocks noGrp="1" noRot="1" noChangeAspect="1" noMove="1" noResize="1" noEditPoints="1" noAdjustHandles="1" noChangeArrowheads="1" noChangeShapeType="1" noTextEdit="1"/>
          </p:cNvSpPr>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p:cNvSpPr>
            <a:spLocks noGrp="1" noRot="1" noChangeAspect="1" noMove="1" noResize="1" noEditPoints="1" noAdjustHandles="1" noChangeArrowheads="1" noChangeShapeType="1" noTextEdit="1"/>
          </p:cNvSpPr>
          <p:nvPr/>
        </p:nvSpPr>
        <p:spPr>
          <a:xfrm>
            <a:off x="411480" y="2285541"/>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411480" y="2684095"/>
            <a:ext cx="4443154" cy="3492868"/>
          </a:xfrm>
        </p:spPr>
        <p:txBody>
          <a:bodyPr>
            <a:normAutofit/>
          </a:bodyPr>
          <a:lstStyle/>
          <a:p>
            <a:pPr marL="0" indent="0">
              <a:lnSpc>
                <a:spcPct val="100000"/>
              </a:lnSpc>
              <a:buNone/>
            </a:pPr>
            <a:r>
              <a:rPr lang="en-IN" sz="1400"/>
              <a:t>CREATE TABLE Jobs</a:t>
            </a:r>
            <a:endParaRPr lang="en-IN" sz="1400"/>
          </a:p>
          <a:p>
            <a:pPr marL="0" indent="0">
              <a:lnSpc>
                <a:spcPct val="100000"/>
              </a:lnSpc>
              <a:buNone/>
            </a:pPr>
            <a:r>
              <a:rPr lang="en-IN" sz="1400"/>
              <a:t>( RepairID int not null,</a:t>
            </a:r>
            <a:endParaRPr lang="en-IN" sz="1400"/>
          </a:p>
          <a:p>
            <a:pPr marL="0" indent="0">
              <a:lnSpc>
                <a:spcPct val="100000"/>
              </a:lnSpc>
              <a:buNone/>
            </a:pPr>
            <a:r>
              <a:rPr lang="en-IN" sz="1400"/>
              <a:t>JobIndex int not null,</a:t>
            </a:r>
            <a:endParaRPr lang="en-IN" sz="1400"/>
          </a:p>
          <a:p>
            <a:pPr marL="0" indent="0">
              <a:lnSpc>
                <a:spcPct val="100000"/>
              </a:lnSpc>
              <a:buNone/>
            </a:pPr>
            <a:r>
              <a:rPr lang="en-US" sz="1400"/>
              <a:t>JobDone varchar(50) not null,</a:t>
            </a:r>
            <a:endParaRPr lang="en-US" sz="1400"/>
          </a:p>
          <a:p>
            <a:pPr marL="0" indent="0">
              <a:lnSpc>
                <a:spcPct val="100000"/>
              </a:lnSpc>
              <a:buNone/>
            </a:pPr>
            <a:r>
              <a:rPr lang="en-IN" sz="1400"/>
              <a:t>[Date]date NOT NULL,</a:t>
            </a:r>
            <a:endParaRPr lang="en-IN" sz="1400"/>
          </a:p>
          <a:p>
            <a:pPr marL="0" indent="0">
              <a:lnSpc>
                <a:spcPct val="100000"/>
              </a:lnSpc>
              <a:buNone/>
            </a:pPr>
            <a:r>
              <a:rPr lang="en-IN" sz="1400"/>
              <a:t>[Hours] int not null,</a:t>
            </a:r>
            <a:endParaRPr lang="en-IN" sz="1400"/>
          </a:p>
          <a:p>
            <a:pPr marL="0" indent="0">
              <a:lnSpc>
                <a:spcPct val="100000"/>
              </a:lnSpc>
              <a:buNone/>
            </a:pPr>
            <a:r>
              <a:rPr lang="en-IN" sz="1400"/>
              <a:t>Remark varchar(50),</a:t>
            </a:r>
            <a:endParaRPr lang="en-IN" sz="1400"/>
          </a:p>
          <a:p>
            <a:pPr marL="0" indent="0">
              <a:lnSpc>
                <a:spcPct val="100000"/>
              </a:lnSpc>
              <a:buNone/>
            </a:pPr>
            <a:r>
              <a:rPr lang="en-US" sz="1400"/>
              <a:t>CONSTRAINT Jobs_FK FOREIGN KEY (RepairID) REFERENCES Repair(RepairID),</a:t>
            </a:r>
            <a:endParaRPr lang="en-US" sz="1400"/>
          </a:p>
          <a:p>
            <a:pPr marL="0" indent="0">
              <a:lnSpc>
                <a:spcPct val="100000"/>
              </a:lnSpc>
              <a:buNone/>
            </a:pPr>
            <a:r>
              <a:rPr lang="en-US" sz="1400"/>
              <a:t>CONSTRAINT Jobs_PK PRIMARY KEY (JobIndex, RepairID));</a:t>
            </a:r>
            <a:endParaRPr lang="en-IN" sz="1400"/>
          </a:p>
        </p:txBody>
      </p:sp>
      <p:pic>
        <p:nvPicPr>
          <p:cNvPr id="5" name="Picture 4" descr="A screenshot of a computer&#10;&#10;Description automatically generated"/>
          <p:cNvPicPr>
            <a:picLocks noChangeAspect="1"/>
          </p:cNvPicPr>
          <p:nvPr/>
        </p:nvPicPr>
        <p:blipFill rotWithShape="1">
          <a:blip r:embed="rId1">
            <a:extLst>
              <a:ext uri="{28A0092B-C50C-407E-A947-70E740481C1C}">
                <a14:useLocalDpi xmlns:a14="http://schemas.microsoft.com/office/drawing/2010/main" val="0"/>
              </a:ext>
            </a:extLst>
          </a:blip>
          <a:srcRect l="22262" t="60419" r="44167" b="12087"/>
          <a:stretch>
            <a:fillRect/>
          </a:stretch>
        </p:blipFill>
        <p:spPr>
          <a:xfrm>
            <a:off x="5385816" y="1963999"/>
            <a:ext cx="6440424" cy="2874647"/>
          </a:xfrm>
          <a:prstGeom prst="rect">
            <a:avLst/>
          </a:prstGeom>
        </p:spPr>
      </p:pic>
      <p:sp>
        <p:nvSpPr>
          <p:cNvPr id="6" name="TextBox 5"/>
          <p:cNvSpPr txBox="1"/>
          <p:nvPr/>
        </p:nvSpPr>
        <p:spPr>
          <a:xfrm>
            <a:off x="5385816" y="4992914"/>
            <a:ext cx="6240127" cy="1477328"/>
          </a:xfrm>
          <a:prstGeom prst="rect">
            <a:avLst/>
          </a:prstGeom>
          <a:noFill/>
        </p:spPr>
        <p:txBody>
          <a:bodyPr wrap="square" rtlCol="0">
            <a:spAutoFit/>
          </a:bodyPr>
          <a:lstStyle/>
          <a:p>
            <a:r>
              <a:rPr lang="en-IN" dirty="0"/>
              <a:t>A job sheet, all the jobs performed for a repairing will be noted here. The date of the job named ‘ Complete’ is noted as the </a:t>
            </a:r>
            <a:r>
              <a:rPr lang="en-IN" dirty="0" err="1"/>
              <a:t>OutDate</a:t>
            </a:r>
            <a:r>
              <a:rPr lang="en-IN" dirty="0"/>
              <a:t> for a particular repair ( Trigger takes care)</a:t>
            </a:r>
            <a:br>
              <a:rPr lang="en-IN" dirty="0"/>
            </a:br>
            <a:r>
              <a:rPr lang="en-IN" dirty="0"/>
              <a:t>That’s when a Repair is considered as ‘completed’</a:t>
            </a: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1480" y="412115"/>
            <a:ext cx="5427345" cy="976630"/>
          </a:xfrm>
        </p:spPr>
        <p:txBody>
          <a:bodyPr anchor="b">
            <a:normAutofit fontScale="90000"/>
          </a:bodyPr>
          <a:lstStyle/>
          <a:p>
            <a:r>
              <a:rPr lang="en-US" altLang="en-IN" sz="3400"/>
              <a:t>Procedures BoosterRecord</a:t>
            </a:r>
            <a:endParaRPr lang="en-US" altLang="en-IN" sz="3400"/>
          </a:p>
        </p:txBody>
      </p:sp>
      <p:sp>
        <p:nvSpPr>
          <p:cNvPr id="12" name="Rectangle 11"/>
          <p:cNvSpPr>
            <a:spLocks noGrp="1" noRot="1" noChangeAspect="1" noMove="1" noResize="1" noEditPoints="1" noAdjustHandles="1" noChangeArrowheads="1" noChangeShapeType="1" noTextEdit="1"/>
          </p:cNvSpPr>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p:cNvSpPr>
            <a:spLocks noGrp="1" noRot="1" noChangeAspect="1" noMove="1" noResize="1" noEditPoints="1" noAdjustHandles="1" noChangeArrowheads="1" noChangeShapeType="1" noTextEdit="1"/>
          </p:cNvSpPr>
          <p:nvPr/>
        </p:nvSpPr>
        <p:spPr>
          <a:xfrm>
            <a:off x="587375" y="1310816"/>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466725" y="1388745"/>
            <a:ext cx="8752205" cy="5251450"/>
          </a:xfrm>
        </p:spPr>
        <p:txBody>
          <a:bodyPr>
            <a:noAutofit/>
          </a:bodyPr>
          <a:lstStyle/>
          <a:p>
            <a:pPr marL="0" indent="0">
              <a:lnSpc>
                <a:spcPct val="100000"/>
              </a:lnSpc>
              <a:buNone/>
            </a:pPr>
            <a:r>
              <a:rPr lang="en-US" altLang="en-IN" sz="1000"/>
              <a:t> </a:t>
            </a:r>
            <a:r>
              <a:rPr lang="en-IN" sz="1000"/>
              <a:t>CREATE PROCEDURE BoosterRecord @BoosterID char(4)</a:t>
            </a:r>
            <a:endParaRPr lang="en-IN" sz="1000"/>
          </a:p>
          <a:p>
            <a:pPr marL="0" indent="0">
              <a:lnSpc>
                <a:spcPct val="100000"/>
              </a:lnSpc>
              <a:buNone/>
            </a:pPr>
            <a:r>
              <a:rPr lang="en-IN" sz="1000"/>
              <a:t> as</a:t>
            </a:r>
            <a:endParaRPr lang="en-IN" sz="1000"/>
          </a:p>
          <a:p>
            <a:pPr marL="0" indent="0">
              <a:lnSpc>
                <a:spcPct val="100000"/>
              </a:lnSpc>
              <a:buNone/>
            </a:pPr>
            <a:r>
              <a:rPr lang="en-IN" sz="1000"/>
              <a:t> BEGIN</a:t>
            </a:r>
            <a:endParaRPr lang="en-IN" sz="1000"/>
          </a:p>
          <a:p>
            <a:pPr marL="0" indent="0">
              <a:lnSpc>
                <a:spcPct val="100000"/>
              </a:lnSpc>
              <a:buNone/>
            </a:pPr>
            <a:r>
              <a:rPr lang="en-IN" sz="1000"/>
              <a:t> SET NOCOUNT ON</a:t>
            </a:r>
            <a:endParaRPr lang="en-IN" sz="1000"/>
          </a:p>
          <a:p>
            <a:pPr marL="0" indent="0">
              <a:lnSpc>
                <a:spcPct val="100000"/>
              </a:lnSpc>
              <a:buNone/>
            </a:pPr>
            <a:r>
              <a:rPr lang="en-IN" sz="1000"/>
              <a:t> SELECT kt.BoosterRemoved as BoosterID, b.[Type], r.RepairID, r.OutDate as [Repair Completed On], k.KilnName, ol.[Description]</a:t>
            </a:r>
            <a:endParaRPr lang="en-IN" sz="1000"/>
          </a:p>
          <a:p>
            <a:pPr marL="0" indent="0">
              <a:lnSpc>
                <a:spcPct val="100000"/>
              </a:lnSpc>
              <a:buNone/>
            </a:pPr>
            <a:r>
              <a:rPr lang="en-IN" sz="1000"/>
              <a:t> FROM KilnTimeline kt </a:t>
            </a:r>
            <a:endParaRPr lang="en-IN" sz="1000"/>
          </a:p>
          <a:p>
            <a:pPr marL="0" indent="0">
              <a:lnSpc>
                <a:spcPct val="100000"/>
              </a:lnSpc>
              <a:buNone/>
            </a:pPr>
            <a:r>
              <a:rPr lang="en-IN" sz="1000"/>
              <a:t> JOIN Observations o</a:t>
            </a:r>
            <a:endParaRPr lang="en-IN" sz="1000"/>
          </a:p>
          <a:p>
            <a:pPr marL="0" indent="0">
              <a:lnSpc>
                <a:spcPct val="100000"/>
              </a:lnSpc>
              <a:buNone/>
            </a:pPr>
            <a:r>
              <a:rPr lang="en-IN" sz="1000"/>
              <a:t> ON kt.KilnTimelineID=o.KilnTimelineID</a:t>
            </a:r>
            <a:endParaRPr lang="en-IN" sz="1000"/>
          </a:p>
          <a:p>
            <a:pPr marL="0" indent="0">
              <a:lnSpc>
                <a:spcPct val="100000"/>
              </a:lnSpc>
              <a:buNone/>
            </a:pPr>
            <a:r>
              <a:rPr lang="en-IN" sz="1000"/>
              <a:t> JOIN [Observation LU] ol</a:t>
            </a:r>
            <a:endParaRPr lang="en-IN" sz="1000"/>
          </a:p>
          <a:p>
            <a:pPr marL="0" indent="0">
              <a:lnSpc>
                <a:spcPct val="100000"/>
              </a:lnSpc>
              <a:buNone/>
            </a:pPr>
            <a:r>
              <a:rPr lang="en-IN" sz="1000"/>
              <a:t> ON o.ObservationIndex=ol.ObservationIndex</a:t>
            </a:r>
            <a:endParaRPr lang="en-IN" sz="1000"/>
          </a:p>
          <a:p>
            <a:pPr marL="0" indent="0">
              <a:lnSpc>
                <a:spcPct val="100000"/>
              </a:lnSpc>
              <a:buNone/>
            </a:pPr>
            <a:r>
              <a:rPr lang="en-IN" sz="1000"/>
              <a:t> JOIN Kiln k</a:t>
            </a:r>
            <a:endParaRPr lang="en-IN" sz="1000"/>
          </a:p>
          <a:p>
            <a:pPr marL="0" indent="0">
              <a:lnSpc>
                <a:spcPct val="100000"/>
              </a:lnSpc>
              <a:buNone/>
            </a:pPr>
            <a:r>
              <a:rPr lang="en-IN" sz="1000"/>
              <a:t> ON kt.KilnID=k.KilnID</a:t>
            </a:r>
            <a:endParaRPr lang="en-IN" sz="1000"/>
          </a:p>
          <a:p>
            <a:pPr marL="0" indent="0">
              <a:lnSpc>
                <a:spcPct val="100000"/>
              </a:lnSpc>
              <a:buNone/>
            </a:pPr>
            <a:r>
              <a:rPr lang="en-IN" sz="1000"/>
              <a:t> JOIN Booster b</a:t>
            </a:r>
            <a:endParaRPr lang="en-IN" sz="1000"/>
          </a:p>
          <a:p>
            <a:pPr marL="0" indent="0">
              <a:lnSpc>
                <a:spcPct val="100000"/>
              </a:lnSpc>
              <a:buNone/>
            </a:pPr>
            <a:r>
              <a:rPr lang="en-IN" sz="1000"/>
              <a:t> ON kt.BoosterRemoved = b.BoosterID</a:t>
            </a:r>
            <a:endParaRPr lang="en-IN" sz="1000"/>
          </a:p>
          <a:p>
            <a:pPr marL="0" indent="0">
              <a:lnSpc>
                <a:spcPct val="100000"/>
              </a:lnSpc>
              <a:buNone/>
            </a:pPr>
            <a:r>
              <a:rPr lang="en-IN" sz="1000"/>
              <a:t> JOIN Repair r</a:t>
            </a:r>
            <a:endParaRPr lang="en-IN" sz="1000"/>
          </a:p>
          <a:p>
            <a:pPr marL="0" indent="0">
              <a:lnSpc>
                <a:spcPct val="100000"/>
              </a:lnSpc>
              <a:buNone/>
            </a:pPr>
            <a:r>
              <a:rPr lang="en-IN" sz="1000"/>
              <a:t> ON kt.KilnTimelineID = r.KilnTimelineID</a:t>
            </a:r>
            <a:endParaRPr lang="en-IN" sz="1000"/>
          </a:p>
          <a:p>
            <a:pPr marL="0" indent="0">
              <a:lnSpc>
                <a:spcPct val="100000"/>
              </a:lnSpc>
              <a:buNone/>
            </a:pPr>
            <a:r>
              <a:rPr lang="en-IN" sz="1000"/>
              <a:t>  WHERE kt.BoosterRemoved=@BoosterID</a:t>
            </a:r>
            <a:endParaRPr lang="en-IN" sz="1000"/>
          </a:p>
          <a:p>
            <a:pPr marL="0" indent="0">
              <a:lnSpc>
                <a:spcPct val="100000"/>
              </a:lnSpc>
              <a:buNone/>
            </a:pPr>
            <a:r>
              <a:rPr lang="en-IN" sz="1000"/>
              <a:t>END;</a:t>
            </a:r>
            <a:endParaRPr lang="en-IN" sz="1000"/>
          </a:p>
          <a:p>
            <a:pPr marL="0" indent="0">
              <a:lnSpc>
                <a:spcPct val="100000"/>
              </a:lnSpc>
              <a:buNone/>
            </a:pPr>
            <a:r>
              <a:rPr lang="en-IN" sz="1000"/>
              <a:t>EXEC BoosterRecord @BoosterID='1020'</a:t>
            </a:r>
            <a:endParaRPr lang="en-IN" sz="1000"/>
          </a:p>
        </p:txBody>
      </p:sp>
      <p:sp>
        <p:nvSpPr>
          <p:cNvPr id="6" name="TextBox 5"/>
          <p:cNvSpPr txBox="1"/>
          <p:nvPr/>
        </p:nvSpPr>
        <p:spPr>
          <a:xfrm>
            <a:off x="6585585" y="4626610"/>
            <a:ext cx="5246370" cy="1753235"/>
          </a:xfrm>
          <a:prstGeom prst="rect">
            <a:avLst/>
          </a:prstGeom>
          <a:noFill/>
        </p:spPr>
        <p:txBody>
          <a:bodyPr wrap="square" rtlCol="0">
            <a:spAutoFit/>
          </a:bodyPr>
          <a:lstStyle/>
          <a:p>
            <a:r>
              <a:rPr lang="en-IN"/>
              <a:t>This procedure is aiming to check the repairing history of a booster.  We input the Booster ID and get the details including type of the booster, the repair ID, the date of repair completed, the name of the kiln and other descriptions. </a:t>
            </a:r>
            <a:endParaRPr lang="en-IN"/>
          </a:p>
        </p:txBody>
      </p:sp>
      <p:pic>
        <p:nvPicPr>
          <p:cNvPr id="4" name="图片 3"/>
          <p:cNvPicPr>
            <a:picLocks noChangeAspect="1"/>
          </p:cNvPicPr>
          <p:nvPr/>
        </p:nvPicPr>
        <p:blipFill>
          <a:blip r:embed="rId1"/>
          <a:stretch>
            <a:fillRect/>
          </a:stretch>
        </p:blipFill>
        <p:spPr>
          <a:xfrm>
            <a:off x="6585585" y="3799840"/>
            <a:ext cx="4391025" cy="4286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1480" y="412115"/>
            <a:ext cx="5427345" cy="976630"/>
          </a:xfrm>
        </p:spPr>
        <p:txBody>
          <a:bodyPr anchor="b">
            <a:normAutofit/>
          </a:bodyPr>
          <a:lstStyle/>
          <a:p>
            <a:r>
              <a:rPr lang="en-US" altLang="en-IN" sz="3400"/>
              <a:t>Procedures KilnRecord</a:t>
            </a:r>
            <a:endParaRPr lang="en-US" altLang="en-IN" sz="3400"/>
          </a:p>
        </p:txBody>
      </p:sp>
      <p:sp>
        <p:nvSpPr>
          <p:cNvPr id="12" name="Rectangle 11"/>
          <p:cNvSpPr>
            <a:spLocks noGrp="1" noRot="1" noChangeAspect="1" noMove="1" noResize="1" noEditPoints="1" noAdjustHandles="1" noChangeArrowheads="1" noChangeShapeType="1" noTextEdit="1"/>
          </p:cNvSpPr>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p:cNvSpPr>
            <a:spLocks noGrp="1" noRot="1" noChangeAspect="1" noMove="1" noResize="1" noEditPoints="1" noAdjustHandles="1" noChangeArrowheads="1" noChangeShapeType="1" noTextEdit="1"/>
          </p:cNvSpPr>
          <p:nvPr/>
        </p:nvSpPr>
        <p:spPr>
          <a:xfrm>
            <a:off x="587375" y="1310816"/>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466725" y="1388745"/>
            <a:ext cx="8752205" cy="5251450"/>
          </a:xfrm>
        </p:spPr>
        <p:txBody>
          <a:bodyPr>
            <a:noAutofit/>
          </a:bodyPr>
          <a:lstStyle/>
          <a:p>
            <a:pPr marL="0" indent="0">
              <a:lnSpc>
                <a:spcPct val="100000"/>
              </a:lnSpc>
              <a:buNone/>
            </a:pPr>
            <a:r>
              <a:rPr sz="1000"/>
              <a:t>CREATE PROCEDURE KilnRecord @KilnID char(3)</a:t>
            </a:r>
            <a:endParaRPr sz="1000"/>
          </a:p>
          <a:p>
            <a:pPr marL="0" indent="0">
              <a:lnSpc>
                <a:spcPct val="100000"/>
              </a:lnSpc>
              <a:buNone/>
            </a:pPr>
            <a:r>
              <a:rPr sz="1000"/>
              <a:t> as</a:t>
            </a:r>
            <a:endParaRPr sz="1000"/>
          </a:p>
          <a:p>
            <a:pPr marL="0" indent="0">
              <a:lnSpc>
                <a:spcPct val="100000"/>
              </a:lnSpc>
              <a:buNone/>
            </a:pPr>
            <a:r>
              <a:rPr sz="1000"/>
              <a:t> BEGIN</a:t>
            </a:r>
            <a:endParaRPr sz="1000"/>
          </a:p>
          <a:p>
            <a:pPr marL="0" indent="0">
              <a:lnSpc>
                <a:spcPct val="100000"/>
              </a:lnSpc>
              <a:buNone/>
            </a:pPr>
            <a:r>
              <a:rPr sz="1000"/>
              <a:t> SET NOCOUNT ON</a:t>
            </a:r>
            <a:endParaRPr sz="1000"/>
          </a:p>
          <a:p>
            <a:pPr marL="0" indent="0">
              <a:lnSpc>
                <a:spcPct val="100000"/>
              </a:lnSpc>
              <a:buNone/>
            </a:pPr>
            <a:r>
              <a:rPr sz="1000"/>
              <a:t> SELECT kt.TimelineNumber, kt.KilnID, k.KilnName, kt.BoosterRemoved, b.[Type], o.ObservationIndex, ol.[Description]</a:t>
            </a:r>
            <a:endParaRPr sz="1000"/>
          </a:p>
          <a:p>
            <a:pPr marL="0" indent="0">
              <a:lnSpc>
                <a:spcPct val="100000"/>
              </a:lnSpc>
              <a:buNone/>
            </a:pPr>
            <a:r>
              <a:rPr sz="1000"/>
              <a:t> FROM KilnTimeline kt JOIN Observations o</a:t>
            </a:r>
            <a:endParaRPr sz="1000"/>
          </a:p>
          <a:p>
            <a:pPr marL="0" indent="0">
              <a:lnSpc>
                <a:spcPct val="100000"/>
              </a:lnSpc>
              <a:buNone/>
            </a:pPr>
            <a:r>
              <a:rPr sz="1000"/>
              <a:t> ON kt.KilnTimelineID=o.KilnTimelineID</a:t>
            </a:r>
            <a:endParaRPr sz="1000"/>
          </a:p>
          <a:p>
            <a:pPr marL="0" indent="0">
              <a:lnSpc>
                <a:spcPct val="100000"/>
              </a:lnSpc>
              <a:buNone/>
            </a:pPr>
            <a:r>
              <a:rPr sz="1000"/>
              <a:t>    JOIN [Observation LU] ol</a:t>
            </a:r>
            <a:endParaRPr sz="1000"/>
          </a:p>
          <a:p>
            <a:pPr marL="0" indent="0">
              <a:lnSpc>
                <a:spcPct val="100000"/>
              </a:lnSpc>
              <a:buNone/>
            </a:pPr>
            <a:r>
              <a:rPr sz="1000"/>
              <a:t> ON o.ObservationIndex=OL.ObservationIndex</a:t>
            </a:r>
            <a:endParaRPr sz="1000"/>
          </a:p>
          <a:p>
            <a:pPr marL="0" indent="0">
              <a:lnSpc>
                <a:spcPct val="100000"/>
              </a:lnSpc>
              <a:buNone/>
            </a:pPr>
            <a:r>
              <a:rPr sz="1000"/>
              <a:t> JOIN Booster b</a:t>
            </a:r>
            <a:endParaRPr sz="1000"/>
          </a:p>
          <a:p>
            <a:pPr marL="0" indent="0">
              <a:lnSpc>
                <a:spcPct val="100000"/>
              </a:lnSpc>
              <a:buNone/>
            </a:pPr>
            <a:r>
              <a:rPr sz="1000"/>
              <a:t> ON kt.BoosterRemoved = b.BoosterID</a:t>
            </a:r>
            <a:endParaRPr sz="1000"/>
          </a:p>
          <a:p>
            <a:pPr marL="0" indent="0">
              <a:lnSpc>
                <a:spcPct val="100000"/>
              </a:lnSpc>
              <a:buNone/>
            </a:pPr>
            <a:r>
              <a:rPr sz="1000"/>
              <a:t> JOIN Kiln k</a:t>
            </a:r>
            <a:endParaRPr sz="1000"/>
          </a:p>
          <a:p>
            <a:pPr marL="0" indent="0">
              <a:lnSpc>
                <a:spcPct val="100000"/>
              </a:lnSpc>
              <a:buNone/>
            </a:pPr>
            <a:r>
              <a:rPr sz="1000"/>
              <a:t> ON kt.KilnID=k.KilnID</a:t>
            </a:r>
            <a:endParaRPr sz="1000"/>
          </a:p>
          <a:p>
            <a:pPr marL="0" indent="0">
              <a:lnSpc>
                <a:spcPct val="100000"/>
              </a:lnSpc>
              <a:buNone/>
            </a:pPr>
            <a:r>
              <a:rPr sz="1000"/>
              <a:t>  WHERE kt.KilnID = @KilnID</a:t>
            </a:r>
            <a:endParaRPr sz="1000"/>
          </a:p>
          <a:p>
            <a:pPr marL="0" indent="0">
              <a:lnSpc>
                <a:spcPct val="100000"/>
              </a:lnSpc>
              <a:buNone/>
            </a:pPr>
            <a:r>
              <a:rPr sz="1000"/>
              <a:t> </a:t>
            </a:r>
            <a:endParaRPr sz="1000"/>
          </a:p>
          <a:p>
            <a:pPr marL="0" indent="0">
              <a:lnSpc>
                <a:spcPct val="100000"/>
              </a:lnSpc>
              <a:buNone/>
            </a:pPr>
            <a:r>
              <a:rPr sz="1000"/>
              <a:t>END;</a:t>
            </a:r>
            <a:endParaRPr sz="1000"/>
          </a:p>
          <a:p>
            <a:pPr marL="0" indent="0">
              <a:lnSpc>
                <a:spcPct val="100000"/>
              </a:lnSpc>
              <a:buNone/>
            </a:pPr>
            <a:r>
              <a:rPr sz="1000"/>
              <a:t>--EXEC KilnRecord @KilnID='KL2'</a:t>
            </a:r>
            <a:endParaRPr sz="1000"/>
          </a:p>
        </p:txBody>
      </p:sp>
      <p:sp>
        <p:nvSpPr>
          <p:cNvPr id="6" name="TextBox 5"/>
          <p:cNvSpPr txBox="1"/>
          <p:nvPr/>
        </p:nvSpPr>
        <p:spPr>
          <a:xfrm>
            <a:off x="6585585" y="4445635"/>
            <a:ext cx="5246370" cy="2030095"/>
          </a:xfrm>
          <a:prstGeom prst="rect">
            <a:avLst/>
          </a:prstGeom>
          <a:noFill/>
        </p:spPr>
        <p:txBody>
          <a:bodyPr wrap="square" rtlCol="0">
            <a:spAutoFit/>
          </a:bodyPr>
          <a:lstStyle/>
          <a:p>
            <a:r>
              <a:rPr lang="en-IN"/>
              <a:t>This procedure is aiming to  pull up observation timelines for a particular kiln. We input the ID of the kiln and get the </a:t>
            </a:r>
            <a:r>
              <a:rPr lang="en-US" altLang="en-IN"/>
              <a:t>list including the </a:t>
            </a:r>
            <a:r>
              <a:rPr lang="en-IN"/>
              <a:t>name of the kiln, the ID of boosters of the kiln, the type of boosters, the observation index and other descriptions.</a:t>
            </a:r>
            <a:endParaRPr lang="en-IN"/>
          </a:p>
        </p:txBody>
      </p:sp>
      <p:pic>
        <p:nvPicPr>
          <p:cNvPr id="5" name="图片 4"/>
          <p:cNvPicPr>
            <a:picLocks noChangeAspect="1"/>
          </p:cNvPicPr>
          <p:nvPr/>
        </p:nvPicPr>
        <p:blipFill>
          <a:blip r:embed="rId1"/>
          <a:stretch>
            <a:fillRect/>
          </a:stretch>
        </p:blipFill>
        <p:spPr>
          <a:xfrm>
            <a:off x="6390005" y="3488690"/>
            <a:ext cx="5372100" cy="762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1480" y="412115"/>
            <a:ext cx="5427345" cy="976630"/>
          </a:xfrm>
        </p:spPr>
        <p:txBody>
          <a:bodyPr anchor="b">
            <a:normAutofit/>
          </a:bodyPr>
          <a:lstStyle/>
          <a:p>
            <a:r>
              <a:rPr lang="en-US" altLang="en-IN" sz="3400"/>
              <a:t>Procedures Repairing</a:t>
            </a:r>
            <a:endParaRPr lang="en-US" altLang="en-IN" sz="3400"/>
          </a:p>
        </p:txBody>
      </p:sp>
      <p:sp>
        <p:nvSpPr>
          <p:cNvPr id="12" name="Rectangle 11"/>
          <p:cNvSpPr>
            <a:spLocks noGrp="1" noRot="1" noChangeAspect="1" noMove="1" noResize="1" noEditPoints="1" noAdjustHandles="1" noChangeArrowheads="1" noChangeShapeType="1" noTextEdit="1"/>
          </p:cNvSpPr>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p:cNvSpPr>
            <a:spLocks noGrp="1" noRot="1" noChangeAspect="1" noMove="1" noResize="1" noEditPoints="1" noAdjustHandles="1" noChangeArrowheads="1" noChangeShapeType="1" noTextEdit="1"/>
          </p:cNvSpPr>
          <p:nvPr/>
        </p:nvSpPr>
        <p:spPr>
          <a:xfrm>
            <a:off x="587375" y="1310816"/>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466725" y="1329055"/>
            <a:ext cx="8752205" cy="5251450"/>
          </a:xfrm>
        </p:spPr>
        <p:txBody>
          <a:bodyPr>
            <a:noAutofit/>
          </a:bodyPr>
          <a:lstStyle/>
          <a:p>
            <a:pPr marL="0" indent="0">
              <a:lnSpc>
                <a:spcPct val="100000"/>
              </a:lnSpc>
              <a:buNone/>
            </a:pPr>
            <a:r>
              <a:rPr sz="1000"/>
              <a:t>CREATE PROCEDURE Repairing @Checkdate date</a:t>
            </a:r>
            <a:endParaRPr sz="1000"/>
          </a:p>
          <a:p>
            <a:pPr marL="0" indent="0">
              <a:lnSpc>
                <a:spcPct val="100000"/>
              </a:lnSpc>
              <a:buNone/>
            </a:pPr>
            <a:r>
              <a:rPr sz="1000"/>
              <a:t>as</a:t>
            </a:r>
            <a:endParaRPr sz="1000"/>
          </a:p>
          <a:p>
            <a:pPr marL="0" indent="0">
              <a:lnSpc>
                <a:spcPct val="100000"/>
              </a:lnSpc>
              <a:buNone/>
            </a:pPr>
            <a:r>
              <a:rPr sz="1000"/>
              <a:t>BEGIN</a:t>
            </a:r>
            <a:endParaRPr sz="1000"/>
          </a:p>
          <a:p>
            <a:pPr marL="0" indent="0">
              <a:lnSpc>
                <a:spcPct val="100000"/>
              </a:lnSpc>
              <a:buNone/>
            </a:pPr>
            <a:r>
              <a:rPr sz="1000"/>
              <a:t>SELECT kt.BoosterRemoved as BoosterID, kt.Base, b.[Type] as BoosterType, r.InDate, ol.[Description]</a:t>
            </a:r>
            <a:endParaRPr sz="1000"/>
          </a:p>
          <a:p>
            <a:pPr marL="0" indent="0">
              <a:lnSpc>
                <a:spcPct val="100000"/>
              </a:lnSpc>
              <a:buNone/>
            </a:pPr>
            <a:r>
              <a:rPr sz="1000"/>
              <a:t>FROM Repair r</a:t>
            </a:r>
            <a:endParaRPr sz="1000"/>
          </a:p>
          <a:p>
            <a:pPr marL="0" indent="0">
              <a:lnSpc>
                <a:spcPct val="100000"/>
              </a:lnSpc>
              <a:buNone/>
            </a:pPr>
            <a:r>
              <a:rPr sz="1000"/>
              <a:t>JOIN KilnTimeline kt</a:t>
            </a:r>
            <a:endParaRPr sz="1000"/>
          </a:p>
          <a:p>
            <a:pPr marL="0" indent="0">
              <a:lnSpc>
                <a:spcPct val="100000"/>
              </a:lnSpc>
              <a:buNone/>
            </a:pPr>
            <a:r>
              <a:rPr sz="1000"/>
              <a:t>ON kt.KilnTimelineID=r.KilnTimelineID</a:t>
            </a:r>
            <a:endParaRPr sz="1000"/>
          </a:p>
          <a:p>
            <a:pPr marL="0" indent="0">
              <a:lnSpc>
                <a:spcPct val="100000"/>
              </a:lnSpc>
              <a:buNone/>
            </a:pPr>
            <a:r>
              <a:rPr sz="1000"/>
              <a:t>JOIN Observations o</a:t>
            </a:r>
            <a:endParaRPr sz="1000"/>
          </a:p>
          <a:p>
            <a:pPr marL="0" indent="0">
              <a:lnSpc>
                <a:spcPct val="100000"/>
              </a:lnSpc>
              <a:buNone/>
            </a:pPr>
            <a:r>
              <a:rPr sz="1000"/>
              <a:t>ON o.KilnTimelineID=r.KilnTimelineID</a:t>
            </a:r>
            <a:endParaRPr sz="1000"/>
          </a:p>
          <a:p>
            <a:pPr marL="0" indent="0">
              <a:lnSpc>
                <a:spcPct val="100000"/>
              </a:lnSpc>
              <a:buNone/>
            </a:pPr>
            <a:r>
              <a:rPr sz="1000"/>
              <a:t>JOIN [Observation LU] ol</a:t>
            </a:r>
            <a:endParaRPr sz="1000"/>
          </a:p>
          <a:p>
            <a:pPr marL="0" indent="0">
              <a:lnSpc>
                <a:spcPct val="100000"/>
              </a:lnSpc>
              <a:buNone/>
            </a:pPr>
            <a:r>
              <a:rPr sz="1000"/>
              <a:t>ON ol.ObservationIndex=o.ObservationIndex</a:t>
            </a:r>
            <a:endParaRPr sz="1000"/>
          </a:p>
          <a:p>
            <a:pPr marL="0" indent="0">
              <a:lnSpc>
                <a:spcPct val="100000"/>
              </a:lnSpc>
              <a:buNone/>
            </a:pPr>
            <a:r>
              <a:rPr sz="1000"/>
              <a:t>JOIN Booster b</a:t>
            </a:r>
            <a:endParaRPr sz="1000"/>
          </a:p>
          <a:p>
            <a:pPr marL="0" indent="0">
              <a:lnSpc>
                <a:spcPct val="100000"/>
              </a:lnSpc>
              <a:buNone/>
            </a:pPr>
            <a:r>
              <a:rPr sz="1000"/>
              <a:t>ON kt.BoosterRemoved = b.BoosterID</a:t>
            </a:r>
            <a:endParaRPr sz="1000"/>
          </a:p>
          <a:p>
            <a:pPr marL="0" indent="0">
              <a:lnSpc>
                <a:spcPct val="100000"/>
              </a:lnSpc>
              <a:buNone/>
            </a:pPr>
            <a:r>
              <a:rPr sz="1000"/>
              <a:t>where (Indate&lt;=@Checkdate and Outdate IS NULL) or (Indate&lt;=@Checkdate and Outdate&gt;=@checkdate)</a:t>
            </a:r>
            <a:endParaRPr sz="1000"/>
          </a:p>
          <a:p>
            <a:pPr marL="0" indent="0">
              <a:lnSpc>
                <a:spcPct val="100000"/>
              </a:lnSpc>
              <a:buNone/>
            </a:pPr>
            <a:r>
              <a:rPr sz="1000"/>
              <a:t>END</a:t>
            </a:r>
            <a:r>
              <a:rPr lang="en-US" sz="1000"/>
              <a:t>;</a:t>
            </a:r>
            <a:endParaRPr sz="1000"/>
          </a:p>
          <a:p>
            <a:pPr marL="0" indent="0">
              <a:lnSpc>
                <a:spcPct val="100000"/>
              </a:lnSpc>
              <a:buNone/>
            </a:pPr>
            <a:r>
              <a:rPr sz="1000"/>
              <a:t>--EXEC Repairing @Checkdate='2019-05-20'</a:t>
            </a:r>
            <a:endParaRPr sz="1000"/>
          </a:p>
        </p:txBody>
      </p:sp>
      <p:sp>
        <p:nvSpPr>
          <p:cNvPr id="6" name="TextBox 5"/>
          <p:cNvSpPr txBox="1"/>
          <p:nvPr/>
        </p:nvSpPr>
        <p:spPr>
          <a:xfrm>
            <a:off x="6945630" y="5104765"/>
            <a:ext cx="5246370" cy="1753235"/>
          </a:xfrm>
          <a:prstGeom prst="rect">
            <a:avLst/>
          </a:prstGeom>
          <a:noFill/>
        </p:spPr>
        <p:txBody>
          <a:bodyPr wrap="square" rtlCol="0">
            <a:spAutoFit/>
          </a:bodyPr>
          <a:lstStyle/>
          <a:p>
            <a:r>
              <a:rPr lang="en-IN"/>
              <a:t>This procedure is aiming to check the repairing booster on a specific date. We input the date and get the ID of boosters which are repairing, the type of boosters, the date when boosters start repairing and other descriptions.</a:t>
            </a:r>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1480" y="991235"/>
            <a:ext cx="5678170" cy="1087755"/>
          </a:xfrm>
        </p:spPr>
        <p:txBody>
          <a:bodyPr anchor="b">
            <a:normAutofit fontScale="90000"/>
          </a:bodyPr>
          <a:lstStyle/>
          <a:p>
            <a:r>
              <a:rPr lang="en-US" altLang="en-IN" sz="3400">
                <a:sym typeface="+mn-ea"/>
              </a:rPr>
              <a:t>VIEW RepairShopSummary</a:t>
            </a:r>
            <a:endParaRPr lang="en-IN" sz="3400"/>
          </a:p>
        </p:txBody>
      </p:sp>
      <p:sp>
        <p:nvSpPr>
          <p:cNvPr id="12" name="Rectangle 11"/>
          <p:cNvSpPr>
            <a:spLocks noGrp="1" noRot="1" noChangeAspect="1" noMove="1" noResize="1" noEditPoints="1" noAdjustHandles="1" noChangeArrowheads="1" noChangeShapeType="1" noTextEdit="1"/>
          </p:cNvSpPr>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p:cNvSpPr>
            <a:spLocks noGrp="1" noRot="1" noChangeAspect="1" noMove="1" noResize="1" noEditPoints="1" noAdjustHandles="1" noChangeArrowheads="1" noChangeShapeType="1" noTextEdit="1"/>
          </p:cNvSpPr>
          <p:nvPr/>
        </p:nvSpPr>
        <p:spPr>
          <a:xfrm>
            <a:off x="411480" y="2285541"/>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411480" y="2684095"/>
            <a:ext cx="4443154" cy="3492868"/>
          </a:xfrm>
        </p:spPr>
        <p:txBody>
          <a:bodyPr>
            <a:normAutofit/>
          </a:bodyPr>
          <a:lstStyle/>
          <a:p>
            <a:pPr marL="0" indent="0">
              <a:lnSpc>
                <a:spcPct val="100000"/>
              </a:lnSpc>
              <a:buNone/>
            </a:pPr>
            <a:r>
              <a:rPr sz="1400">
                <a:sym typeface="+mn-ea"/>
              </a:rPr>
              <a:t>CREATE VIEW RepairShopSummary AS</a:t>
            </a:r>
            <a:endParaRPr sz="1400"/>
          </a:p>
          <a:p>
            <a:pPr marL="0" indent="0">
              <a:lnSpc>
                <a:spcPct val="100000"/>
              </a:lnSpc>
              <a:buNone/>
            </a:pPr>
            <a:r>
              <a:rPr sz="1400">
                <a:sym typeface="+mn-ea"/>
              </a:rPr>
              <a:t>SELECT KilnTimeline.BoosterRemoved,Repair.RepairID,</a:t>
            </a:r>
            <a:endParaRPr sz="1400"/>
          </a:p>
          <a:p>
            <a:pPr marL="0" indent="0">
              <a:lnSpc>
                <a:spcPct val="100000"/>
              </a:lnSpc>
              <a:buNone/>
            </a:pPr>
            <a:r>
              <a:rPr sz="1400">
                <a:sym typeface="+mn-ea"/>
              </a:rPr>
              <a:t>    Repair.InDate,Repair.OutDate ,DATEDIFF(day, Repair.InDate,Repair.OutDate) AS [Repair(days)] FROM</a:t>
            </a:r>
            <a:endParaRPr sz="1400"/>
          </a:p>
          <a:p>
            <a:pPr marL="0" indent="0">
              <a:lnSpc>
                <a:spcPct val="100000"/>
              </a:lnSpc>
              <a:buNone/>
            </a:pPr>
            <a:r>
              <a:rPr sz="1400">
                <a:sym typeface="+mn-ea"/>
              </a:rPr>
              <a:t>KilnTimeline Right outer JOIN Repair ON KilnTimeline.KilnTimelineID=Repair.KilnTimelineID</a:t>
            </a:r>
            <a:endParaRPr sz="1400">
              <a:sym typeface="+mn-ea"/>
            </a:endParaRPr>
          </a:p>
          <a:p>
            <a:pPr marL="0" indent="0">
              <a:lnSpc>
                <a:spcPct val="100000"/>
              </a:lnSpc>
              <a:buNone/>
            </a:pPr>
            <a:r>
              <a:rPr lang="en-IN" sz="1400"/>
              <a:t>--SELECT * FROM RepairShopSummary</a:t>
            </a:r>
            <a:endParaRPr lang="en-IN" sz="1400"/>
          </a:p>
        </p:txBody>
      </p:sp>
      <p:sp>
        <p:nvSpPr>
          <p:cNvPr id="6" name="TextBox 5"/>
          <p:cNvSpPr txBox="1"/>
          <p:nvPr/>
        </p:nvSpPr>
        <p:spPr>
          <a:xfrm>
            <a:off x="5385816" y="4992914"/>
            <a:ext cx="6240127" cy="1198880"/>
          </a:xfrm>
          <a:prstGeom prst="rect">
            <a:avLst/>
          </a:prstGeom>
          <a:noFill/>
        </p:spPr>
        <p:txBody>
          <a:bodyPr wrap="square" rtlCol="0">
            <a:spAutoFit/>
          </a:bodyPr>
          <a:lstStyle/>
          <a:p>
            <a:r>
              <a:rPr lang="en-IN"/>
              <a:t>This view is for pulling up all booster repair records. We will get the information including ID of repairing booster, repair ID, the start date and end date of repairing and the repair time.</a:t>
            </a:r>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1480" y="991235"/>
            <a:ext cx="5678170" cy="1087755"/>
          </a:xfrm>
        </p:spPr>
        <p:txBody>
          <a:bodyPr anchor="b">
            <a:normAutofit/>
          </a:bodyPr>
          <a:lstStyle/>
          <a:p>
            <a:r>
              <a:rPr lang="en-US" altLang="en-IN" sz="3400">
                <a:sym typeface="+mn-ea"/>
              </a:rPr>
              <a:t>VIEW Summary</a:t>
            </a:r>
            <a:endParaRPr lang="en-US" altLang="en-IN" sz="3400">
              <a:sym typeface="+mn-ea"/>
            </a:endParaRPr>
          </a:p>
        </p:txBody>
      </p:sp>
      <p:sp>
        <p:nvSpPr>
          <p:cNvPr id="12" name="Rectangle 11"/>
          <p:cNvSpPr>
            <a:spLocks noGrp="1" noRot="1" noChangeAspect="1" noMove="1" noResize="1" noEditPoints="1" noAdjustHandles="1" noChangeArrowheads="1" noChangeShapeType="1" noTextEdit="1"/>
          </p:cNvSpPr>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p:cNvSpPr>
            <a:spLocks noGrp="1" noRot="1" noChangeAspect="1" noMove="1" noResize="1" noEditPoints="1" noAdjustHandles="1" noChangeArrowheads="1" noChangeShapeType="1" noTextEdit="1"/>
          </p:cNvSpPr>
          <p:nvPr/>
        </p:nvSpPr>
        <p:spPr>
          <a:xfrm>
            <a:off x="411480" y="2285541"/>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411480" y="2684145"/>
            <a:ext cx="5789930" cy="3493135"/>
          </a:xfrm>
        </p:spPr>
        <p:txBody>
          <a:bodyPr>
            <a:normAutofit fontScale="70000"/>
          </a:bodyPr>
          <a:lstStyle/>
          <a:p>
            <a:pPr marL="0" indent="0">
              <a:lnSpc>
                <a:spcPct val="100000"/>
              </a:lnSpc>
              <a:buNone/>
            </a:pPr>
            <a:r>
              <a:rPr sz="1400">
                <a:sym typeface="+mn-ea"/>
              </a:rPr>
              <a:t>CREATE VIEW Summary AS</a:t>
            </a:r>
            <a:endParaRPr sz="1400">
              <a:sym typeface="+mn-ea"/>
            </a:endParaRPr>
          </a:p>
          <a:p>
            <a:pPr marL="0" indent="0">
              <a:lnSpc>
                <a:spcPct val="100000"/>
              </a:lnSpc>
              <a:buNone/>
            </a:pPr>
            <a:r>
              <a:rPr sz="1400">
                <a:sym typeface="+mn-ea"/>
              </a:rPr>
              <a:t>SELECT KilnTimeline.KilnID,KilnTimeline.Base,</a:t>
            </a:r>
            <a:endParaRPr sz="1400">
              <a:sym typeface="+mn-ea"/>
            </a:endParaRPr>
          </a:p>
          <a:p>
            <a:pPr marL="0" indent="0">
              <a:lnSpc>
                <a:spcPct val="100000"/>
              </a:lnSpc>
              <a:buNone/>
            </a:pPr>
            <a:r>
              <a:rPr sz="1400">
                <a:sym typeface="+mn-ea"/>
              </a:rPr>
              <a:t>	KilnTimeline.BoosterRemoved,KilnTimeline.BoosterInstalled,</a:t>
            </a:r>
            <a:endParaRPr sz="1400">
              <a:sym typeface="+mn-ea"/>
            </a:endParaRPr>
          </a:p>
          <a:p>
            <a:pPr marL="0" indent="0">
              <a:lnSpc>
                <a:spcPct val="100000"/>
              </a:lnSpc>
              <a:buNone/>
            </a:pPr>
            <a:r>
              <a:rPr sz="1400">
                <a:sym typeface="+mn-ea"/>
              </a:rPr>
              <a:t>	KilnTimeline.KilnTimelineID,[Observation LU].[Description],</a:t>
            </a:r>
            <a:endParaRPr sz="1400">
              <a:sym typeface="+mn-ea"/>
            </a:endParaRPr>
          </a:p>
          <a:p>
            <a:pPr marL="0" indent="0">
              <a:lnSpc>
                <a:spcPct val="100000"/>
              </a:lnSpc>
              <a:buNone/>
            </a:pPr>
            <a:r>
              <a:rPr sz="1400">
                <a:sym typeface="+mn-ea"/>
              </a:rPr>
              <a:t>	Repair.RepairID,Repair.InDate,Repair.OutDate,Repair.Remark,</a:t>
            </a:r>
            <a:endParaRPr sz="1400">
              <a:sym typeface="+mn-ea"/>
            </a:endParaRPr>
          </a:p>
          <a:p>
            <a:pPr marL="0" indent="0">
              <a:lnSpc>
                <a:spcPct val="100000"/>
              </a:lnSpc>
              <a:buNone/>
            </a:pPr>
            <a:r>
              <a:rPr sz="1400">
                <a:sym typeface="+mn-ea"/>
              </a:rPr>
              <a:t>	DATEDIFF(day,Repair.InDate,Repair.OutDate) AS [Repair(days)]</a:t>
            </a:r>
            <a:endParaRPr sz="1400">
              <a:sym typeface="+mn-ea"/>
            </a:endParaRPr>
          </a:p>
          <a:p>
            <a:pPr marL="0" indent="0">
              <a:lnSpc>
                <a:spcPct val="100000"/>
              </a:lnSpc>
              <a:buNone/>
            </a:pPr>
            <a:r>
              <a:rPr sz="1400">
                <a:sym typeface="+mn-ea"/>
              </a:rPr>
              <a:t>	FROM KilnTimeline </a:t>
            </a:r>
            <a:endParaRPr sz="1400">
              <a:sym typeface="+mn-ea"/>
            </a:endParaRPr>
          </a:p>
          <a:p>
            <a:pPr marL="0" indent="0">
              <a:lnSpc>
                <a:spcPct val="100000"/>
              </a:lnSpc>
              <a:buNone/>
            </a:pPr>
            <a:r>
              <a:rPr sz="1400">
                <a:sym typeface="+mn-ea"/>
              </a:rPr>
              <a:t>	JOIN Observations ON KilnTimeline.KilnTimelineID = Observations.KilnTimelineID</a:t>
            </a:r>
            <a:endParaRPr sz="1400">
              <a:sym typeface="+mn-ea"/>
            </a:endParaRPr>
          </a:p>
          <a:p>
            <a:pPr marL="0" indent="0">
              <a:lnSpc>
                <a:spcPct val="100000"/>
              </a:lnSpc>
              <a:buNone/>
            </a:pPr>
            <a:r>
              <a:rPr sz="1400">
                <a:sym typeface="+mn-ea"/>
              </a:rPr>
              <a:t>	JOIN [Observation LU] ON Observations.ObservationIndex = [Observation LU].ObservationIndex</a:t>
            </a:r>
            <a:endParaRPr sz="1400">
              <a:sym typeface="+mn-ea"/>
            </a:endParaRPr>
          </a:p>
          <a:p>
            <a:pPr marL="0" indent="0">
              <a:lnSpc>
                <a:spcPct val="100000"/>
              </a:lnSpc>
              <a:buNone/>
            </a:pPr>
            <a:r>
              <a:rPr sz="1400">
                <a:sym typeface="+mn-ea"/>
              </a:rPr>
              <a:t>	JOIN Repair ON Repair.KilnTimelineID= KilnTimeline.KilnTimelineID</a:t>
            </a:r>
            <a:endParaRPr sz="1400">
              <a:sym typeface="+mn-ea"/>
            </a:endParaRPr>
          </a:p>
          <a:p>
            <a:pPr marL="0" indent="0">
              <a:lnSpc>
                <a:spcPct val="100000"/>
              </a:lnSpc>
              <a:buNone/>
            </a:pPr>
            <a:r>
              <a:rPr sz="1400">
                <a:sym typeface="+mn-ea"/>
              </a:rPr>
              <a:t>--SELECT * FROM Summary</a:t>
            </a:r>
            <a:endParaRPr sz="1400">
              <a:sym typeface="+mn-ea"/>
            </a:endParaRPr>
          </a:p>
        </p:txBody>
      </p:sp>
      <p:sp>
        <p:nvSpPr>
          <p:cNvPr id="6" name="TextBox 5"/>
          <p:cNvSpPr txBox="1"/>
          <p:nvPr/>
        </p:nvSpPr>
        <p:spPr>
          <a:xfrm>
            <a:off x="6283960" y="5255260"/>
            <a:ext cx="5817235" cy="922020"/>
          </a:xfrm>
          <a:prstGeom prst="rect">
            <a:avLst/>
          </a:prstGeom>
          <a:noFill/>
        </p:spPr>
        <p:txBody>
          <a:bodyPr wrap="square" rtlCol="0">
            <a:spAutoFit/>
          </a:bodyPr>
          <a:lstStyle/>
          <a:p>
            <a:r>
              <a:rPr lang="en-IN"/>
              <a:t>This view is for pulling up the summary of the entire project data. The information include kilns, bases, kiln timeline, repairing and so on.</a:t>
            </a:r>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1480" y="991235"/>
            <a:ext cx="5678170" cy="1087755"/>
          </a:xfrm>
        </p:spPr>
        <p:txBody>
          <a:bodyPr anchor="b">
            <a:normAutofit fontScale="90000"/>
          </a:bodyPr>
          <a:lstStyle/>
          <a:p>
            <a:r>
              <a:rPr lang="en-US" altLang="en-IN" sz="3400">
                <a:sym typeface="+mn-ea"/>
              </a:rPr>
              <a:t>Trigger OutDateCatchtrg</a:t>
            </a:r>
            <a:endParaRPr lang="en-US" altLang="en-IN" sz="3400">
              <a:sym typeface="+mn-ea"/>
            </a:endParaRPr>
          </a:p>
        </p:txBody>
      </p:sp>
      <p:sp>
        <p:nvSpPr>
          <p:cNvPr id="12" name="Rectangle 11"/>
          <p:cNvSpPr>
            <a:spLocks noGrp="1" noRot="1" noChangeAspect="1" noMove="1" noResize="1" noEditPoints="1" noAdjustHandles="1" noChangeArrowheads="1" noChangeShapeType="1" noTextEdit="1"/>
          </p:cNvSpPr>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p:cNvSpPr>
            <a:spLocks noGrp="1" noRot="1" noChangeAspect="1" noMove="1" noResize="1" noEditPoints="1" noAdjustHandles="1" noChangeArrowheads="1" noChangeShapeType="1" noTextEdit="1"/>
          </p:cNvSpPr>
          <p:nvPr/>
        </p:nvSpPr>
        <p:spPr>
          <a:xfrm>
            <a:off x="411480" y="2285541"/>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411480" y="2684145"/>
            <a:ext cx="5789930" cy="3493135"/>
          </a:xfrm>
        </p:spPr>
        <p:txBody>
          <a:bodyPr>
            <a:normAutofit/>
          </a:bodyPr>
          <a:lstStyle/>
          <a:p>
            <a:pPr marL="0" indent="0">
              <a:lnSpc>
                <a:spcPct val="100000"/>
              </a:lnSpc>
              <a:buNone/>
            </a:pPr>
            <a:r>
              <a:rPr sz="1400">
                <a:sym typeface="+mn-ea"/>
              </a:rPr>
              <a:t>CREATE TRIGGER dbo.OutDateCatchtrg ON Jobs</a:t>
            </a:r>
            <a:endParaRPr sz="1400">
              <a:sym typeface="+mn-ea"/>
            </a:endParaRPr>
          </a:p>
          <a:p>
            <a:pPr marL="0" indent="0">
              <a:lnSpc>
                <a:spcPct val="100000"/>
              </a:lnSpc>
              <a:buNone/>
            </a:pPr>
            <a:r>
              <a:rPr sz="1400">
                <a:sym typeface="+mn-ea"/>
              </a:rPr>
              <a:t>AFTER INSERT </a:t>
            </a:r>
            <a:endParaRPr sz="1400">
              <a:sym typeface="+mn-ea"/>
            </a:endParaRPr>
          </a:p>
          <a:p>
            <a:pPr marL="0" indent="0">
              <a:lnSpc>
                <a:spcPct val="100000"/>
              </a:lnSpc>
              <a:buNone/>
            </a:pPr>
            <a:r>
              <a:rPr sz="1400">
                <a:sym typeface="+mn-ea"/>
              </a:rPr>
              <a:t>AS BEGIN</a:t>
            </a:r>
            <a:endParaRPr sz="1400">
              <a:sym typeface="+mn-ea"/>
            </a:endParaRPr>
          </a:p>
          <a:p>
            <a:pPr marL="0" indent="0">
              <a:lnSpc>
                <a:spcPct val="100000"/>
              </a:lnSpc>
              <a:buNone/>
            </a:pPr>
            <a:r>
              <a:rPr sz="1400">
                <a:sym typeface="+mn-ea"/>
              </a:rPr>
              <a:t>INSERT INTO OutDateCatch</a:t>
            </a:r>
            <a:endParaRPr sz="1400">
              <a:sym typeface="+mn-ea"/>
            </a:endParaRPr>
          </a:p>
          <a:p>
            <a:pPr marL="0" indent="0">
              <a:lnSpc>
                <a:spcPct val="100000"/>
              </a:lnSpc>
              <a:buNone/>
            </a:pPr>
            <a:r>
              <a:rPr sz="1400">
                <a:sym typeface="+mn-ea"/>
              </a:rPr>
              <a:t>(RepairID,JobIndex,JobDone,[Date],[Hours],Remark)</a:t>
            </a:r>
            <a:endParaRPr sz="1400">
              <a:sym typeface="+mn-ea"/>
            </a:endParaRPr>
          </a:p>
          <a:p>
            <a:pPr marL="0" indent="0">
              <a:lnSpc>
                <a:spcPct val="100000"/>
              </a:lnSpc>
              <a:buNone/>
            </a:pPr>
            <a:r>
              <a:rPr sz="1400">
                <a:sym typeface="+mn-ea"/>
              </a:rPr>
              <a:t>SELECT  RepairID, JobIndex,JobDone,[Date],[Hours],Remark FROM inserted</a:t>
            </a:r>
            <a:endParaRPr sz="1400">
              <a:sym typeface="+mn-ea"/>
            </a:endParaRPr>
          </a:p>
          <a:p>
            <a:pPr marL="0" indent="0">
              <a:lnSpc>
                <a:spcPct val="100000"/>
              </a:lnSpc>
              <a:buNone/>
            </a:pPr>
            <a:r>
              <a:rPr sz="1400">
                <a:sym typeface="+mn-ea"/>
              </a:rPr>
              <a:t>WHERE JobDone='Complete'</a:t>
            </a:r>
            <a:endParaRPr sz="1400">
              <a:sym typeface="+mn-ea"/>
            </a:endParaRPr>
          </a:p>
          <a:p>
            <a:pPr marL="0" indent="0">
              <a:lnSpc>
                <a:spcPct val="100000"/>
              </a:lnSpc>
              <a:buNone/>
            </a:pPr>
            <a:r>
              <a:rPr sz="1400">
                <a:sym typeface="+mn-ea"/>
              </a:rPr>
              <a:t>END</a:t>
            </a:r>
            <a:endParaRPr sz="140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1480" y="991235"/>
            <a:ext cx="5678170" cy="1087755"/>
          </a:xfrm>
        </p:spPr>
        <p:txBody>
          <a:bodyPr anchor="b">
            <a:normAutofit/>
          </a:bodyPr>
          <a:lstStyle/>
          <a:p>
            <a:r>
              <a:rPr lang="en-US" altLang="en-IN" sz="3400">
                <a:sym typeface="+mn-ea"/>
              </a:rPr>
              <a:t>Trigger OutDateTrg</a:t>
            </a:r>
            <a:endParaRPr lang="en-US" altLang="en-IN" sz="3400">
              <a:sym typeface="+mn-ea"/>
            </a:endParaRPr>
          </a:p>
        </p:txBody>
      </p:sp>
      <p:sp>
        <p:nvSpPr>
          <p:cNvPr id="12" name="Rectangle 11"/>
          <p:cNvSpPr>
            <a:spLocks noGrp="1" noRot="1" noChangeAspect="1" noMove="1" noResize="1" noEditPoints="1" noAdjustHandles="1" noChangeArrowheads="1" noChangeShapeType="1" noTextEdit="1"/>
          </p:cNvSpPr>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p:cNvSpPr>
            <a:spLocks noGrp="1" noRot="1" noChangeAspect="1" noMove="1" noResize="1" noEditPoints="1" noAdjustHandles="1" noChangeArrowheads="1" noChangeShapeType="1" noTextEdit="1"/>
          </p:cNvSpPr>
          <p:nvPr/>
        </p:nvSpPr>
        <p:spPr>
          <a:xfrm>
            <a:off x="411480" y="2285541"/>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411480" y="2433955"/>
            <a:ext cx="6203950" cy="4020820"/>
          </a:xfrm>
        </p:spPr>
        <p:txBody>
          <a:bodyPr>
            <a:normAutofit fontScale="60000"/>
          </a:bodyPr>
          <a:lstStyle/>
          <a:p>
            <a:pPr marL="0" indent="0">
              <a:lnSpc>
                <a:spcPct val="100000"/>
              </a:lnSpc>
              <a:buNone/>
            </a:pPr>
            <a:r>
              <a:rPr sz="1400">
                <a:sym typeface="+mn-ea"/>
              </a:rPr>
              <a:t>CREATE TRIGGER OutDateTrg on OutDateCatch</a:t>
            </a:r>
            <a:endParaRPr sz="1400">
              <a:sym typeface="+mn-ea"/>
            </a:endParaRPr>
          </a:p>
          <a:p>
            <a:pPr marL="0" indent="0">
              <a:lnSpc>
                <a:spcPct val="100000"/>
              </a:lnSpc>
              <a:buNone/>
            </a:pPr>
            <a:r>
              <a:rPr sz="1400">
                <a:sym typeface="+mn-ea"/>
              </a:rPr>
              <a:t>AFTER INSERT </a:t>
            </a:r>
            <a:endParaRPr sz="1400">
              <a:sym typeface="+mn-ea"/>
            </a:endParaRPr>
          </a:p>
          <a:p>
            <a:pPr marL="0" indent="0">
              <a:lnSpc>
                <a:spcPct val="100000"/>
              </a:lnSpc>
              <a:buNone/>
            </a:pPr>
            <a:r>
              <a:rPr sz="1400">
                <a:sym typeface="+mn-ea"/>
              </a:rPr>
              <a:t>AS BEGIN </a:t>
            </a:r>
            <a:endParaRPr sz="1400">
              <a:sym typeface="+mn-ea"/>
            </a:endParaRPr>
          </a:p>
          <a:p>
            <a:pPr marL="0" indent="0">
              <a:lnSpc>
                <a:spcPct val="100000"/>
              </a:lnSpc>
              <a:buNone/>
            </a:pPr>
            <a:r>
              <a:rPr sz="1400">
                <a:sym typeface="+mn-ea"/>
              </a:rPr>
              <a:t>INSERT INTO DUMMY (KilnTimelineID, RepairID, InDate, OutDate)</a:t>
            </a:r>
            <a:endParaRPr sz="1400">
              <a:sym typeface="+mn-ea"/>
            </a:endParaRPr>
          </a:p>
          <a:p>
            <a:pPr marL="0" indent="0">
              <a:lnSpc>
                <a:spcPct val="100000"/>
              </a:lnSpc>
              <a:buNone/>
            </a:pPr>
            <a:r>
              <a:rPr sz="1400">
                <a:sym typeface="+mn-ea"/>
              </a:rPr>
              <a:t>SELECT r.KilnTimelineID ,r.RepairID,r.InDate,o.[Date] AS OutDate </a:t>
            </a:r>
            <a:endParaRPr sz="1400">
              <a:sym typeface="+mn-ea"/>
            </a:endParaRPr>
          </a:p>
          <a:p>
            <a:pPr marL="0" indent="0">
              <a:lnSpc>
                <a:spcPct val="100000"/>
              </a:lnSpc>
              <a:buNone/>
            </a:pPr>
            <a:r>
              <a:rPr sz="1400">
                <a:sym typeface="+mn-ea"/>
              </a:rPr>
              <a:t>	 FROM Repair r </a:t>
            </a:r>
            <a:endParaRPr sz="1400">
              <a:sym typeface="+mn-ea"/>
            </a:endParaRPr>
          </a:p>
          <a:p>
            <a:pPr marL="0" indent="0">
              <a:lnSpc>
                <a:spcPct val="100000"/>
              </a:lnSpc>
              <a:buNone/>
            </a:pPr>
            <a:r>
              <a:rPr sz="1400">
                <a:sym typeface="+mn-ea"/>
              </a:rPr>
              <a:t>	RIGHT JOIN OutDateCatch o </a:t>
            </a:r>
            <a:endParaRPr sz="1400">
              <a:sym typeface="+mn-ea"/>
            </a:endParaRPr>
          </a:p>
          <a:p>
            <a:pPr marL="0" indent="0">
              <a:lnSpc>
                <a:spcPct val="100000"/>
              </a:lnSpc>
              <a:buNone/>
            </a:pPr>
            <a:r>
              <a:rPr sz="1400">
                <a:sym typeface="+mn-ea"/>
              </a:rPr>
              <a:t>	ON r.RepairID=o.RepairID </a:t>
            </a:r>
            <a:endParaRPr sz="1400">
              <a:sym typeface="+mn-ea"/>
            </a:endParaRPr>
          </a:p>
          <a:p>
            <a:pPr marL="0" indent="0">
              <a:lnSpc>
                <a:spcPct val="100000"/>
              </a:lnSpc>
              <a:buNone/>
            </a:pPr>
            <a:r>
              <a:rPr sz="1400">
                <a:sym typeface="+mn-ea"/>
              </a:rPr>
              <a:t>	GROUP BY r.KilnTimelineID,r.RepairID, r.InDate,o.[Date]</a:t>
            </a:r>
            <a:endParaRPr sz="1400">
              <a:sym typeface="+mn-ea"/>
            </a:endParaRPr>
          </a:p>
          <a:p>
            <a:pPr marL="0" indent="0">
              <a:lnSpc>
                <a:spcPct val="100000"/>
              </a:lnSpc>
              <a:buNone/>
            </a:pPr>
            <a:r>
              <a:rPr sz="1400">
                <a:sym typeface="+mn-ea"/>
              </a:rPr>
              <a:t>UPDATE        Repair</a:t>
            </a:r>
            <a:endParaRPr sz="1400">
              <a:sym typeface="+mn-ea"/>
            </a:endParaRPr>
          </a:p>
          <a:p>
            <a:pPr marL="0" indent="0">
              <a:lnSpc>
                <a:spcPct val="100000"/>
              </a:lnSpc>
              <a:buNone/>
            </a:pPr>
            <a:r>
              <a:rPr sz="1400">
                <a:sym typeface="+mn-ea"/>
              </a:rPr>
              <a:t>SET           Repair.OutDate = DUMMY.OutDate</a:t>
            </a:r>
            <a:endParaRPr sz="1400">
              <a:sym typeface="+mn-ea"/>
            </a:endParaRPr>
          </a:p>
          <a:p>
            <a:pPr marL="0" indent="0">
              <a:lnSpc>
                <a:spcPct val="100000"/>
              </a:lnSpc>
              <a:buNone/>
            </a:pPr>
            <a:r>
              <a:rPr sz="1400">
                <a:sym typeface="+mn-ea"/>
              </a:rPr>
              <a:t>FROM          Repair</a:t>
            </a:r>
            <a:endParaRPr sz="1400">
              <a:sym typeface="+mn-ea"/>
            </a:endParaRPr>
          </a:p>
          <a:p>
            <a:pPr marL="0" indent="0">
              <a:lnSpc>
                <a:spcPct val="100000"/>
              </a:lnSpc>
              <a:buNone/>
            </a:pPr>
            <a:r>
              <a:rPr sz="1400">
                <a:sym typeface="+mn-ea"/>
              </a:rPr>
              <a:t>lefT  JOIN    DUMMY</a:t>
            </a:r>
            <a:endParaRPr sz="1400">
              <a:sym typeface="+mn-ea"/>
            </a:endParaRPr>
          </a:p>
          <a:p>
            <a:pPr marL="0" indent="0">
              <a:lnSpc>
                <a:spcPct val="100000"/>
              </a:lnSpc>
              <a:buNone/>
            </a:pPr>
            <a:r>
              <a:rPr sz="1400">
                <a:sym typeface="+mn-ea"/>
              </a:rPr>
              <a:t>ON            Repair.RepairID = DUMMY.RepairID</a:t>
            </a:r>
            <a:endParaRPr sz="1400">
              <a:sym typeface="+mn-ea"/>
            </a:endParaRPr>
          </a:p>
          <a:p>
            <a:pPr marL="0" indent="0">
              <a:lnSpc>
                <a:spcPct val="100000"/>
              </a:lnSpc>
              <a:buNone/>
            </a:pPr>
            <a:r>
              <a:rPr sz="1400">
                <a:sym typeface="+mn-ea"/>
              </a:rPr>
              <a:t>END </a:t>
            </a:r>
            <a:endParaRPr sz="1400">
              <a:sym typeface="+mn-ea"/>
            </a:endParaRPr>
          </a:p>
        </p:txBody>
      </p:sp>
      <p:sp>
        <p:nvSpPr>
          <p:cNvPr id="6" name="TextBox 5"/>
          <p:cNvSpPr txBox="1"/>
          <p:nvPr/>
        </p:nvSpPr>
        <p:spPr>
          <a:xfrm>
            <a:off x="6283960" y="5255260"/>
            <a:ext cx="5817235" cy="1198880"/>
          </a:xfrm>
          <a:prstGeom prst="rect">
            <a:avLst/>
          </a:prstGeom>
          <a:noFill/>
        </p:spPr>
        <p:txBody>
          <a:bodyPr wrap="square" rtlCol="0">
            <a:spAutoFit/>
          </a:bodyPr>
          <a:p>
            <a:r>
              <a:rPr lang="en-IN"/>
              <a:t>This trigger is to update the end date of repairing of the booster. We insert the repair ID, the start date and end date of the repairing and update the end date in the original data.</a:t>
            </a:r>
            <a:endParaRPr lang="en-IN"/>
          </a:p>
        </p:txBody>
      </p:sp>
    </p:spTree>
  </p:cSld>
  <p:clrMapOvr>
    <a:masterClrMapping/>
  </p:clrMapOvr>
</p:sld>
</file>

<file path=ppt/theme/theme1.xml><?xml version="1.0" encoding="utf-8"?>
<a:theme xmlns:a="http://schemas.openxmlformats.org/drawingml/2006/main" name="AccentBoxVTI">
  <a:themeElements>
    <a:clrScheme name="AnalogousFromDarkSeedRightStep">
      <a:dk1>
        <a:srgbClr val="000000"/>
      </a:dk1>
      <a:lt1>
        <a:srgbClr val="FFFFFF"/>
      </a:lt1>
      <a:dk2>
        <a:srgbClr val="24413D"/>
      </a:dk2>
      <a:lt2>
        <a:srgbClr val="EEECF0"/>
      </a:lt2>
      <a:accent1>
        <a:srgbClr val="7BAD44"/>
      </a:accent1>
      <a:accent2>
        <a:srgbClr val="48B13B"/>
      </a:accent2>
      <a:accent3>
        <a:srgbClr val="47B569"/>
      </a:accent3>
      <a:accent4>
        <a:srgbClr val="3BB191"/>
      </a:accent4>
      <a:accent5>
        <a:srgbClr val="4AACBC"/>
      </a:accent5>
      <a:accent6>
        <a:srgbClr val="3B6FB1"/>
      </a:accent6>
      <a:hlink>
        <a:srgbClr val="CC6769"/>
      </a:hlink>
      <a:folHlink>
        <a:srgbClr val="878787"/>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8398</Words>
  <Application>WPS 演示</Application>
  <PresentationFormat>Widescreen</PresentationFormat>
  <Paragraphs>261</Paragraphs>
  <Slides>19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Arial</vt:lpstr>
      <vt:lpstr>SimSun</vt:lpstr>
      <vt:lpstr>Wingdings</vt:lpstr>
      <vt:lpstr>Calibri</vt:lpstr>
      <vt:lpstr>Avenir Next LT Pro</vt:lpstr>
      <vt:lpstr>Segoe Print</vt:lpstr>
      <vt:lpstr>Microsoft YaHei</vt:lpstr>
      <vt:lpstr>Arial Unicode MS</vt:lpstr>
      <vt:lpstr>AccentBoxVTI</vt:lpstr>
      <vt:lpstr>DATABASE DEVELOPMENT OF BOOSTER MAINENANCE</vt:lpstr>
      <vt:lpstr>Kiln Table DDL</vt:lpstr>
      <vt:lpstr>Booster House DDL</vt:lpstr>
      <vt:lpstr>Booster Base DDL</vt:lpstr>
      <vt:lpstr>Booster DDL</vt:lpstr>
      <vt:lpstr>Kiln Timeline DDL</vt:lpstr>
      <vt:lpstr>Observations Lookup DDL </vt:lpstr>
      <vt:lpstr>Observations DDL</vt:lpstr>
      <vt:lpstr>Repair DDL</vt:lpstr>
      <vt:lpstr>Faults Lookup DDL</vt:lpstr>
      <vt:lpstr>Faults Inspection DDL ( list)</vt:lpstr>
      <vt:lpstr>Jobs DDL ( List)</vt:lpstr>
      <vt:lpstr>Jobs DDL ( List)</vt:lpstr>
      <vt:lpstr>Procedures BoosterRecord</vt:lpstr>
      <vt:lpstr>Procedures BoosterRecord</vt:lpstr>
      <vt:lpstr>Jobs DDL ( List)</vt:lpstr>
      <vt:lpstr>VIEW RepairShopSummary</vt:lpstr>
      <vt:lpstr>VIEW Summary</vt:lpstr>
      <vt:lpstr>Trigger OutDateCatchtrg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DEVELOPMENT OF BOOSTER MAINENANCE</dc:title>
  <dc:creator>Windows User</dc:creator>
  <cp:lastModifiedBy>李育锴</cp:lastModifiedBy>
  <cp:revision>4</cp:revision>
  <dcterms:created xsi:type="dcterms:W3CDTF">2020-04-22T21:43:00Z</dcterms:created>
  <dcterms:modified xsi:type="dcterms:W3CDTF">2020-04-22T22:45:56Z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2052-11.1.0.9440</vt:lpwstr>
  </property>
</Properties>
</file>